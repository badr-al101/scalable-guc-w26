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99C110-2CEC-48C9-BEDE-466587A57CB7}">
  <a:tblStyle styleId="{3099C110-2CEC-48C9-BEDE-466587A57C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9eb28839e_2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c9eb28839e_2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c9eb28839e_2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13e54d6d66722a95_10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13e54d6d66722a95_10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13e54d6d66722a95_10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9" name="Google Shape;75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3e54d6d66722a95_10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13e54d6d66722a95_10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13e54d6d66722a95_10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3e54d6d66722a95_1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g13e54d6d66722a95_1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13e54d6d66722a95_1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3e54d6d66722a95_1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13e54d6d66722a95_1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g13e54d6d66722a95_1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3e54d6d66722a95_1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13e54d6d66722a95_1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13e54d6d66722a95_1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3e54d6d66722a95_12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g13e54d6d66722a95_12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13e54d6d66722a95_12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13e54d6d66722a95_1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4" name="Google Shape;914;g13e54d6d66722a95_1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13e54d6d66722a95_12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13e54d6d66722a95_1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13e54d6d66722a95_1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g13e54d6d66722a95_12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3e54d6d66722a95_1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g13e54d6d66722a95_1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13e54d6d66722a95_1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13e54d6d66722a95_13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g13e54d6d66722a95_1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13e54d6d66722a95_1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2" name="Google Shape;104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2" name="Google Shape;107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8" name="Google Shape;1168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5" name="Google Shape;119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4" name="Google Shape;121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c9eb28839e_2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g3c9eb28839e_2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g3c9eb28839e_2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c9eb28839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g3c9eb28839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g3c9eb28839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c9eb28839e_2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3c9eb28839e_2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c9eb28839e_2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c9eb28839e_2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0" name="Google Shape;1300;g3c9eb28839e_2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g3c9eb28839e_2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c9eb28839e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g3c9eb28839e_2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g3c9eb28839e_2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3c9eb28839e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g3c9eb28839e_2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g3c9eb28839e_2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c9eb28839e_2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8" name="Google Shape;1368;g3c9eb28839e_2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c9eb28839e_2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c9eb28839e_2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6" name="Google Shape;1406;g3c9eb28839e_2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g3c9eb28839e_2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3c9eb28839e_2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8" name="Google Shape;1448;g3c9eb28839e_2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g3c9eb28839e_2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c9eb28839e_2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g3c9eb28839e_2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g3c9eb28839e_2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c9eb28839e_2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7" name="Google Shape;1487;g3c9eb28839e_2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g3c9eb28839e_2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c9eb28839e_2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g3c9eb28839e_2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g3c9eb28839e_2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c9eb28839e_2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9" name="Google Shape;1529;g3c9eb28839e_2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g3c9eb28839e_2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9" name="Google Shape;154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8412480" y="4572000"/>
            <a:ext cx="365700" cy="3657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74320" y="274320"/>
            <a:ext cx="137100" cy="137100"/>
          </a:xfrm>
          <a:prstGeom prst="ellipse">
            <a:avLst/>
          </a:prstGeom>
          <a:solidFill>
            <a:srgbClr val="CCCCCC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48640" y="457200"/>
            <a:ext cx="91500" cy="91500"/>
          </a:xfrm>
          <a:prstGeom prst="ellipse">
            <a:avLst/>
          </a:prstGeom>
          <a:solidFill>
            <a:srgbClr val="CCCCCC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503920" y="274320"/>
            <a:ext cx="137100" cy="137100"/>
          </a:xfrm>
          <a:prstGeom prst="ellipse">
            <a:avLst/>
          </a:prstGeom>
          <a:solidFill>
            <a:srgbClr val="CCCCCC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229600" y="457200"/>
            <a:ext cx="91500" cy="91500"/>
          </a:xfrm>
          <a:prstGeom prst="ellipse">
            <a:avLst/>
          </a:prstGeom>
          <a:solidFill>
            <a:srgbClr val="CCCCCC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595360" y="640080"/>
            <a:ext cx="73200" cy="73200"/>
          </a:xfrm>
          <a:prstGeom prst="ellipse">
            <a:avLst/>
          </a:prstGeom>
          <a:solidFill>
            <a:srgbClr val="CCCCCC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412480" y="45720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b="1">
                <a:solidFill>
                  <a:schemeClr val="lt1"/>
                </a:solidFill>
              </a:defRPr>
            </a:lvl1pPr>
            <a:lvl2pPr lvl="1" algn="ctr">
              <a:buNone/>
              <a:defRPr b="1">
                <a:solidFill>
                  <a:schemeClr val="lt1"/>
                </a:solidFill>
              </a:defRPr>
            </a:lvl2pPr>
            <a:lvl3pPr lvl="2" algn="ctr">
              <a:buNone/>
              <a:defRPr b="1">
                <a:solidFill>
                  <a:schemeClr val="lt1"/>
                </a:solidFill>
              </a:defRPr>
            </a:lvl3pPr>
            <a:lvl4pPr lvl="3" algn="ctr">
              <a:buNone/>
              <a:defRPr b="1">
                <a:solidFill>
                  <a:schemeClr val="lt1"/>
                </a:solidFill>
              </a:defRPr>
            </a:lvl4pPr>
            <a:lvl5pPr lvl="4" algn="ctr">
              <a:buNone/>
              <a:defRPr b="1">
                <a:solidFill>
                  <a:schemeClr val="lt1"/>
                </a:solidFill>
              </a:defRPr>
            </a:lvl5pPr>
            <a:lvl6pPr lvl="5" algn="ctr">
              <a:buNone/>
              <a:defRPr b="1">
                <a:solidFill>
                  <a:schemeClr val="lt1"/>
                </a:solidFill>
              </a:defRPr>
            </a:lvl6pPr>
            <a:lvl7pPr lvl="6" algn="ctr">
              <a:buNone/>
              <a:defRPr b="1">
                <a:solidFill>
                  <a:schemeClr val="lt1"/>
                </a:solidFill>
              </a:defRPr>
            </a:lvl7pPr>
            <a:lvl8pPr lvl="7" algn="ctr">
              <a:buNone/>
              <a:defRPr b="1">
                <a:solidFill>
                  <a:schemeClr val="lt1"/>
                </a:solidFill>
              </a:defRPr>
            </a:lvl8pPr>
            <a:lvl9pPr lvl="8" algn="ctr">
              <a:buNone/>
              <a:defRPr b="1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50.png"/><Relationship Id="rId6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4.png"/><Relationship Id="rId4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6.png"/><Relationship Id="rId4" Type="http://schemas.openxmlformats.org/officeDocument/2006/relationships/image" Target="../media/image39.png"/><Relationship Id="rId5" Type="http://schemas.openxmlformats.org/officeDocument/2006/relationships/image" Target="../media/image51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2.png"/><Relationship Id="rId4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Relationship Id="rId5" Type="http://schemas.openxmlformats.org/officeDocument/2006/relationships/image" Target="../media/image5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7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3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4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learngitbranching.js.org" TargetMode="External"/><Relationship Id="rId4" Type="http://schemas.openxmlformats.org/officeDocument/2006/relationships/hyperlink" Target="http://gitimmersion.com" TargetMode="External"/><Relationship Id="rId9" Type="http://schemas.openxmlformats.org/officeDocument/2006/relationships/hyperlink" Target="https://semver.org/" TargetMode="External"/><Relationship Id="rId5" Type="http://schemas.openxmlformats.org/officeDocument/2006/relationships/hyperlink" Target="http://git-scm.com/book" TargetMode="External"/><Relationship Id="rId6" Type="http://schemas.openxmlformats.org/officeDocument/2006/relationships/hyperlink" Target="http://docs.github.com" TargetMode="External"/><Relationship Id="rId7" Type="http://schemas.openxmlformats.org/officeDocument/2006/relationships/hyperlink" Target="https://www.conventionalcommits.org/en/v1.0.0/" TargetMode="External"/><Relationship Id="rId8" Type="http://schemas.openxmlformats.org/officeDocument/2006/relationships/hyperlink" Target="https://gist.github.com/qoomon/5dfcdf8eec66a051ecd85625518cfd13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MASSIVELY SCALABLE APPS LAB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Lab </a:t>
            </a:r>
            <a:r>
              <a:rPr b="1" i="0" lang="en-US" sz="3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2: Git Version Control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Fundamentals to Advanced Commands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PREPARED BY: MOHAMED AYMAN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200"/>
              <a:buFont typeface="Calibri"/>
              <a:buNone/>
            </a:pPr>
            <a:r>
              <a:rPr b="1" lang="en-US" sz="44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Part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44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Git Fundamentals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412480" y="4572000"/>
            <a:ext cx="365700" cy="3657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Version Control</a:t>
            </a:r>
            <a:endParaRPr b="0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101727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Version Control System (VCS)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Software that tracks and manages changes to files over 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7200" y="147447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Key capabilities: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184023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Track complete history of every change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40080" y="216027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Revert to any previous version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248031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Enable team collaboration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40080" y="280035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See who changed what and when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40080" y="312039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Protect against data 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577595"/>
            <a:ext cx="8229600" cy="5487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48640" y="3623315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Think of it as: A time machine for your code that lets you travel back to any point in your project's history!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GIT'S </a:t>
            </a: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Three</a:t>
            </a:r>
            <a:r>
              <a:rPr b="1" i="0" lang="en-US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-S</a:t>
            </a: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tate</a:t>
            </a:r>
            <a:r>
              <a:rPr b="1" i="0" lang="en-US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</a:t>
            </a: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rchitecture</a:t>
            </a:r>
            <a:endParaRPr b="0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61038" y="9739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organizes work in three distinct areas: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61038" y="1431150"/>
            <a:ext cx="2160600" cy="1371600"/>
          </a:xfrm>
          <a:prstGeom prst="rect">
            <a:avLst/>
          </a:prstGeom>
          <a:solidFill>
            <a:srgbClr val="F5F5F5"/>
          </a:solidFill>
          <a:ln cap="flat" cmpd="sng" w="254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453361" y="1522600"/>
            <a:ext cx="2076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91088" y="1934076"/>
            <a:ext cx="1900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 Where you edit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files on disk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6"/>
          <p:cNvGrpSpPr/>
          <p:nvPr/>
        </p:nvGrpSpPr>
        <p:grpSpPr>
          <a:xfrm>
            <a:off x="3275650" y="1431117"/>
            <a:ext cx="2076223" cy="1371641"/>
            <a:chOff x="3269492" y="1280150"/>
            <a:chExt cx="2013600" cy="1414500"/>
          </a:xfrm>
        </p:grpSpPr>
        <p:sp>
          <p:nvSpPr>
            <p:cNvPr id="87" name="Google Shape;87;p6"/>
            <p:cNvSpPr/>
            <p:nvPr/>
          </p:nvSpPr>
          <p:spPr>
            <a:xfrm>
              <a:off x="3269492" y="1280150"/>
              <a:ext cx="2013600" cy="1414500"/>
            </a:xfrm>
            <a:prstGeom prst="rect">
              <a:avLst/>
            </a:prstGeom>
            <a:solidFill>
              <a:srgbClr val="F5F5F5"/>
            </a:solidFill>
            <a:ln cap="flat" cmpd="sng" w="27025">
              <a:solidFill>
                <a:srgbClr val="B85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200" lIns="97200" spcFirstLastPara="1" rIns="97200" wrap="square" tIns="97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3269492" y="1374445"/>
              <a:ext cx="20136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600" lIns="97200" spcFirstLastPara="1" rIns="97200" wrap="square" tIns="486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489"/>
                <a:buFont typeface="Calibri"/>
                <a:buNone/>
              </a:pPr>
              <a:r>
                <a:rPr b="1" i="0" lang="en-US" sz="1488" u="none" cap="none" strike="noStrike">
                  <a:solidFill>
                    <a:srgbClr val="B85042"/>
                  </a:solidFill>
                  <a:latin typeface="Calibri"/>
                  <a:ea typeface="Calibri"/>
                  <a:cs typeface="Calibri"/>
                  <a:sym typeface="Calibri"/>
                </a:rPr>
                <a:t>Staging Area</a:t>
              </a:r>
              <a:endParaRPr b="0" i="0" sz="148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3341408" y="1798772"/>
              <a:ext cx="1869600" cy="8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8600" lIns="97200" spcFirstLastPara="1" rIns="97200" wrap="square" tIns="486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0"/>
                <a:buFont typeface="Calibri"/>
                <a:buNone/>
              </a:pPr>
              <a:r>
                <a:rPr b="0" i="0" lang="en-US" sz="116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📦 Preparation zone</a:t>
              </a:r>
              <a:endParaRPr b="0" i="0" sz="11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0"/>
                <a:buFont typeface="Calibri"/>
                <a:buNone/>
              </a:pPr>
              <a:r>
                <a:rPr b="0" i="0" lang="en-US" sz="116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What goes in next commit</a:t>
              </a:r>
              <a:endParaRPr b="0" i="0" sz="11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6"/>
          <p:cNvGrpSpPr/>
          <p:nvPr/>
        </p:nvGrpSpPr>
        <p:grpSpPr>
          <a:xfrm>
            <a:off x="6233291" y="1431150"/>
            <a:ext cx="2160513" cy="1371600"/>
            <a:chOff x="6233624" y="1280150"/>
            <a:chExt cx="2270400" cy="1371600"/>
          </a:xfrm>
        </p:grpSpPr>
        <p:sp>
          <p:nvSpPr>
            <p:cNvPr id="91" name="Google Shape;91;p6"/>
            <p:cNvSpPr/>
            <p:nvPr/>
          </p:nvSpPr>
          <p:spPr>
            <a:xfrm>
              <a:off x="6233624" y="1280150"/>
              <a:ext cx="2270400" cy="1371600"/>
            </a:xfrm>
            <a:prstGeom prst="rect">
              <a:avLst/>
            </a:prstGeom>
            <a:solidFill>
              <a:srgbClr val="F5F5F5"/>
            </a:solidFill>
            <a:ln cap="flat" cmpd="sng" w="25400">
              <a:solidFill>
                <a:srgbClr val="B850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6233624" y="1371590"/>
              <a:ext cx="2270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B85042"/>
                  </a:solidFill>
                  <a:latin typeface="Calibri"/>
                  <a:ea typeface="Calibri"/>
                  <a:cs typeface="Calibri"/>
                  <a:sym typeface="Calibri"/>
                </a:rPr>
                <a:t>Repository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>
              <a:off x="6314707" y="1783070"/>
              <a:ext cx="2108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💾 Permanent snapshots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Complete project history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6"/>
          <p:cNvSpPr/>
          <p:nvPr/>
        </p:nvSpPr>
        <p:spPr>
          <a:xfrm>
            <a:off x="2563462" y="1759225"/>
            <a:ext cx="73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add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246724" y="1759231"/>
            <a:ext cx="101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commit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61038" y="3077080"/>
            <a:ext cx="8229600" cy="5487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552478" y="312280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Insight: The staging area gives you precise control over commits. You can choose exactly what changes to include!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6"/>
          <p:cNvCxnSpPr>
            <a:stCxn id="87" idx="3"/>
            <a:endCxn id="91" idx="1"/>
          </p:cNvCxnSpPr>
          <p:nvPr/>
        </p:nvCxnSpPr>
        <p:spPr>
          <a:xfrm>
            <a:off x="5351873" y="2116937"/>
            <a:ext cx="881400" cy="0"/>
          </a:xfrm>
          <a:prstGeom prst="straightConnector1">
            <a:avLst/>
          </a:prstGeom>
          <a:noFill/>
          <a:ln cap="flat" cmpd="sng" w="19050">
            <a:solidFill>
              <a:srgbClr val="B8504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6"/>
          <p:cNvCxnSpPr>
            <a:endCxn id="87" idx="1"/>
          </p:cNvCxnSpPr>
          <p:nvPr/>
        </p:nvCxnSpPr>
        <p:spPr>
          <a:xfrm>
            <a:off x="2621350" y="2116937"/>
            <a:ext cx="654300" cy="0"/>
          </a:xfrm>
          <a:prstGeom prst="straightConnector1">
            <a:avLst/>
          </a:prstGeom>
          <a:noFill/>
          <a:ln cap="flat" cmpd="sng" w="19050">
            <a:solidFill>
              <a:srgbClr val="B8504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Basic Git </a:t>
            </a: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1" i="1" lang="en-US" sz="2400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Essential Commands</a:t>
            </a:r>
            <a:endParaRPr b="1" i="1" sz="24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97280" y="1280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 repository: 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97280" y="1920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status: 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097280" y="2560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 files: 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add </a:t>
            </a:r>
            <a:r>
              <a:rPr lang="en-U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filename&gt;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  or  git add 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Commit changes: 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commit -m "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Your message</a:t>
            </a:r>
            <a:r>
              <a:rPr b="0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three-step process (edit → stage → commit) is fundamental to Git!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Viewing History</a:t>
            </a:r>
            <a:endParaRPr b="0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4472042"/>
            <a:ext cx="7872300" cy="4572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544669" y="4517762"/>
            <a:ext cx="769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Tip: You only need the first 7 characters of a commit hash!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3600" y="791475"/>
            <a:ext cx="3636801" cy="35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1" i="0" lang="en-US" sz="3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r>
              <a:rPr b="1" lang="en-US" sz="3200" u="sng">
                <a:latin typeface="Calibri"/>
                <a:ea typeface="Calibri"/>
                <a:cs typeface="Calibri"/>
                <a:sym typeface="Calibri"/>
              </a:rPr>
              <a:t>gitignore</a:t>
            </a:r>
            <a:endParaRPr b="0" i="0" sz="32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Prevent files from being tracked: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9"/>
          <p:cNvGrpSpPr/>
          <p:nvPr/>
        </p:nvGrpSpPr>
        <p:grpSpPr>
          <a:xfrm>
            <a:off x="457201" y="2320237"/>
            <a:ext cx="3817711" cy="857127"/>
            <a:chOff x="457200" y="3520440"/>
            <a:chExt cx="8229600" cy="502920"/>
          </a:xfrm>
        </p:grpSpPr>
        <p:sp>
          <p:nvSpPr>
            <p:cNvPr id="144" name="Google Shape;144;p9"/>
            <p:cNvSpPr/>
            <p:nvPr/>
          </p:nvSpPr>
          <p:spPr>
            <a:xfrm>
              <a:off x="457200" y="3520440"/>
              <a:ext cx="8229600" cy="502920"/>
            </a:xfrm>
            <a:prstGeom prst="rect">
              <a:avLst/>
            </a:prstGeom>
            <a:solidFill>
              <a:srgbClr val="FFF3E0"/>
            </a:solidFill>
            <a:ln cap="flat" cmpd="sng" w="25400">
              <a:solidFill>
                <a:srgbClr val="F57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548640" y="3566160"/>
              <a:ext cx="80467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Never commit: Passwords, API keys, tokens, large files, build artifacts, or IDE settings!</a:t>
              </a:r>
              <a:endPara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100" y="71923"/>
            <a:ext cx="2891600" cy="500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Part B: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Branching &amp; Merging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A BRANCH?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 branch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A pointer to a specific commit + a way to work on multiple versions simultaneously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Why branches matter: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40080" y="1645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 Work on features without affecting main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 Fix bugs while feature development continues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640080" y="23774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 Multiple developers working independently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008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 Experiment safely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Branches are lightweight! Creating a branch is just creating a 41-byte pointer—not copying your entire codebase.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ESSENTIAL BRANCH COMMANDS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12"/>
          <p:cNvGrpSpPr/>
          <p:nvPr/>
        </p:nvGrpSpPr>
        <p:grpSpPr>
          <a:xfrm>
            <a:off x="572060" y="2381004"/>
            <a:ext cx="4456328" cy="502920"/>
            <a:chOff x="457200" y="3383280"/>
            <a:chExt cx="8229600" cy="502920"/>
          </a:xfrm>
        </p:grpSpPr>
        <p:sp>
          <p:nvSpPr>
            <p:cNvPr id="190" name="Google Shape;190;p12"/>
            <p:cNvSpPr/>
            <p:nvPr/>
          </p:nvSpPr>
          <p:spPr>
            <a:xfrm>
              <a:off x="457200" y="3383280"/>
              <a:ext cx="8229600" cy="502920"/>
            </a:xfrm>
            <a:prstGeom prst="rect">
              <a:avLst/>
            </a:prstGeom>
            <a:solidFill>
              <a:srgbClr val="E8F5E9"/>
            </a:solidFill>
            <a:ln cap="flat" cmpd="sng" w="2540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548640" y="3429000"/>
              <a:ext cx="80467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Best Practice: Use descriptive names like feat/user-auth or</a:t>
              </a:r>
              <a:r>
                <a:rPr lang="en-US" sz="1200"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fix/login-error</a:t>
              </a:r>
              <a:r>
                <a:rPr lang="en-US" sz="1200">
                  <a:latin typeface="Calibri"/>
                  <a:ea typeface="Calibri"/>
                  <a:cs typeface="Calibri"/>
                  <a:sym typeface="Calibri"/>
                </a:rPr>
                <a:t>, in general &lt;type&gt;/&lt;ticket# and/or desc&gt;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1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905" y="850494"/>
            <a:ext cx="3013450" cy="35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MERGING BRANCHES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Basic merge workflow: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Two types of merges: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40080" y="2286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Fast-Forward: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hasn't changed—just moves pointer forward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40080" y="26060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Three-Way: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Both branches have commits—creates merge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548640" y="31546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Merge Conflicts: When same lines/files edited in both branches. Git marks conflicts—you resolve manually, then git add and git commit.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3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6275" y="777250"/>
            <a:ext cx="3224226" cy="12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Part C: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Remote Repositories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REPOSITORY BASICS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Remote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Copy of your repository on a server (GitHub, GitLab, Bit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ucket, etc.)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Why use remotes: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40080" y="15544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 </a:t>
            </a: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Backup: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Code survives laptop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640080" y="1874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 </a:t>
            </a: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Collaboration: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 members share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40080" y="21945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 </a:t>
            </a: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Portfolio: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Showcase your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640080" y="25146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 </a:t>
            </a: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Deployment: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Production servers pull from remote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613" y="3026998"/>
            <a:ext cx="5326772" cy="15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 AND PULL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Push = Send local commits to remote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/>
          <p:nvPr/>
        </p:nvSpPr>
        <p:spPr>
          <a:xfrm>
            <a:off x="432225" y="243464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Pull = Fetch remote commits + merge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457200" y="3973645"/>
            <a:ext cx="82296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548640" y="4019365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Practice: Always git pull before starting new work and before pushing!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8412480" y="45720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50" y="610100"/>
            <a:ext cx="2592951" cy="13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2963" y="2036100"/>
            <a:ext cx="2538125" cy="160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 rotWithShape="1">
          <a:blip r:embed="rId3">
            <a:alphaModFix/>
          </a:blip>
          <a:srcRect b="0" l="0" r="0" t="35312"/>
          <a:stretch/>
        </p:blipFill>
        <p:spPr>
          <a:xfrm>
            <a:off x="522650" y="1178325"/>
            <a:ext cx="6119702" cy="5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CLONE AND FORK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57200" y="9041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Clone = Copy entire repository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457200" y="1762519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Fork (GitHub feature):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640080" y="2036839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Create your own copy on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640080" y="2311159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Make changes in your fork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640080" y="2585479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Create Pull Request to propose changes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457200" y="3022639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Pull Request workflow: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640080" y="3296959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Push your branch to remote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640080" y="3552991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Create PR on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640080" y="3809023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Code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640080" y="4065055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Merge after approval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8412480" y="4581760"/>
            <a:ext cx="365700" cy="3657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8412480" y="457200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 VS CLONE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8" name="Google Shape;288;p18"/>
          <p:cNvGraphicFramePr/>
          <p:nvPr/>
        </p:nvGraphicFramePr>
        <p:xfrm>
          <a:off x="45720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{3099C110-2CEC-48C9-BEDE-466587A57CB7}</a:tableStyleId>
              </a:tblPr>
              <a:tblGrid>
                <a:gridCol w="1645925"/>
                <a:gridCol w="3291850"/>
                <a:gridCol w="32918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Clone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Fork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it?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 repo to your local machine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 repo to your GitHub account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(your computer)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Remote (GitHub server)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Push access?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if you have permissions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— it's YOUR copy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Connected to original?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— same remote origin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— separate repo (can add upstream)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case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 on repos you own/have access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Contribute to others' projects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18"/>
          <p:cNvSpPr/>
          <p:nvPr/>
        </p:nvSpPr>
        <p:spPr>
          <a:xfrm>
            <a:off x="457200" y="2869263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Use CLONE when: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457200" y="3143583"/>
            <a:ext cx="3931800" cy="777300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007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548640" y="3189303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It's your own repository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You're a collaborator with push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You're just downloading to work locally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4754880" y="2869263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Use FORK when: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4754880" y="3143583"/>
            <a:ext cx="3931800" cy="7773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4846320" y="3189303"/>
            <a:ext cx="374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Contributing to open-source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You don't have push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You want your own independent copy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125" y="3981450"/>
            <a:ext cx="4963752" cy="11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Part D:</a:t>
            </a: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Advanced Git Commands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LEARN ADVANCED COMMANDS?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Real-world scenarios require more than basics: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640080" y="12344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 Need to undo commits but keep changes?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40080" y="16459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🍒 Want to copy ONE commit to another branch?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640080" y="20574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 Need cleaner, linear history?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 Want to save work temporarily?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40080" y="288036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 Need to recover deleted work?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Advanced commands give you surgical precision over your Git history and workflow!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onsolas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stash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STASH - SAVE WORK TEMPORARILY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The Problem: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You're working on a feature, but need to switch branches urgently. Your changes aren't ready to commit.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The Solution: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457200" y="4343575"/>
            <a:ext cx="77874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/>
          <p:nvPr/>
        </p:nvSpPr>
        <p:spPr>
          <a:xfrm>
            <a:off x="543774" y="4389345"/>
            <a:ext cx="761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Stash = A hidden stack where you can temporarily store uncommitted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1" name="Google Shape;3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363" y="1706880"/>
            <a:ext cx="7095264" cy="248428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STASH COMMANDS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2525" y="731520"/>
            <a:ext cx="6358961" cy="410718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TO USE STASH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Perfect for: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Switching branches with uncommitted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Pulling updates when you have local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64008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Temporarily shelving experiments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640080" y="20116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Quick context switches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❌ Not recommended for: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640080" y="26517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Long-term storage (use branches instead)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Sharing with others (stash is local only)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Tip: Use git stash save "message" to remember what each stash contains!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5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5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5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5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onsolas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reset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RESET - UNDO COMMITS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Move HEAD (and optionally staging/working directory) to a different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Three modes: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457200" y="1449680"/>
            <a:ext cx="8229600" cy="365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6"/>
          <p:cNvSpPr/>
          <p:nvPr/>
        </p:nvSpPr>
        <p:spPr>
          <a:xfrm>
            <a:off x="457200" y="14496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2514600" y="14496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4572000" y="14496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6629400" y="144968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Working Dir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457200" y="1815440"/>
            <a:ext cx="8229600" cy="365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6"/>
          <p:cNvSpPr/>
          <p:nvPr/>
        </p:nvSpPr>
        <p:spPr>
          <a:xfrm>
            <a:off x="457200" y="181544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--soft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2514600" y="181544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Moves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4572000" y="181544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✗ Unchanged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6629400" y="181544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✗ Unchanged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457200" y="2181200"/>
            <a:ext cx="8229600" cy="36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6"/>
          <p:cNvSpPr/>
          <p:nvPr/>
        </p:nvSpPr>
        <p:spPr>
          <a:xfrm>
            <a:off x="457200" y="218120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--mixed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2514600" y="218120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Moves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4572000" y="218120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Reset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6629400" y="218120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✗ Unchanged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457200" y="2546960"/>
            <a:ext cx="8229600" cy="3657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6"/>
          <p:cNvSpPr/>
          <p:nvPr/>
        </p:nvSpPr>
        <p:spPr>
          <a:xfrm>
            <a:off x="457200" y="254696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--hard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2514600" y="254696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Moves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572000" y="254696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Reset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629400" y="2546960"/>
            <a:ext cx="205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✓ Reset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457200" y="3114079"/>
            <a:ext cx="8229600" cy="4572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548640" y="3159799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Warning: --hard is destructive! It permanently discards uncommitted changes.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RESET --SOFT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Use case: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commit but keep all changes staged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457200" y="1814919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457200" y="293427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After: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457200" y="4118878"/>
            <a:ext cx="8229600" cy="4116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7"/>
          <p:cNvSpPr/>
          <p:nvPr/>
        </p:nvSpPr>
        <p:spPr>
          <a:xfrm>
            <a:off x="548640" y="4164598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Perfect for: Fixing commit messages, combining multiple commits into 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975775"/>
            <a:ext cx="6468151" cy="8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4768" y="1955025"/>
            <a:ext cx="5399266" cy="8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4698" y="3021400"/>
            <a:ext cx="5399402" cy="82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RESET --MIXED (DEFAULT)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Use case: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commit AND unstage changes (keep in working directory)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457200" y="2069719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640080" y="2298319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Commit is undone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640080" y="2590927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Changes are in working directory (modified files)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640080" y="2883535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Nothing is staged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640080" y="3176143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can re-stage selectively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457200" y="3532759"/>
            <a:ext cx="82296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548640" y="3578479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Perfect for: Breaking a commit into smaller commits, reviewing changes before re-committing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771" y="1064775"/>
            <a:ext cx="5552456" cy="9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9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RESET --HARD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457200" y="731530"/>
            <a:ext cx="8229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Use case: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discard commits 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all changes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548640" y="21945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 DANGEROUS: This permanently deletes uncommitted work!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double-check before using --hard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When to use: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640080" y="2971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Abandoning a failed experiment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9"/>
          <p:cNvSpPr/>
          <p:nvPr/>
        </p:nvSpPr>
        <p:spPr>
          <a:xfrm>
            <a:off x="640080" y="32461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Clearing messed up working directory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9"/>
          <p:cNvSpPr/>
          <p:nvPr/>
        </p:nvSpPr>
        <p:spPr>
          <a:xfrm>
            <a:off x="640080" y="352044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Reverting to known good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1250" y="437300"/>
            <a:ext cx="3201266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RESET REFERENCE SYNTAX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5" name="Google Shape;495;p30"/>
          <p:cNvGrpSpPr/>
          <p:nvPr/>
        </p:nvGrpSpPr>
        <p:grpSpPr>
          <a:xfrm>
            <a:off x="371876" y="2297400"/>
            <a:ext cx="3533790" cy="548700"/>
            <a:chOff x="457200" y="3017520"/>
            <a:chExt cx="8229600" cy="548700"/>
          </a:xfrm>
        </p:grpSpPr>
        <p:sp>
          <p:nvSpPr>
            <p:cNvPr id="496" name="Google Shape;496;p30"/>
            <p:cNvSpPr/>
            <p:nvPr/>
          </p:nvSpPr>
          <p:spPr>
            <a:xfrm>
              <a:off x="457200" y="3017520"/>
              <a:ext cx="8229600" cy="548700"/>
            </a:xfrm>
            <a:prstGeom prst="rect">
              <a:avLst/>
            </a:prstGeom>
            <a:solidFill>
              <a:srgbClr val="E3F2FD"/>
            </a:solidFill>
            <a:ln cap="flat" cmpd="sng" w="25400">
              <a:solidFill>
                <a:srgbClr val="1565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548640" y="3063240"/>
              <a:ext cx="804672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HEAD~n = n commits before HEAD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HEAD^ = parent of HEAD (same as HEAD~1)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8" name="Google Shape;498;p3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200" y="888704"/>
            <a:ext cx="4562076" cy="36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1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1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1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1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1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1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onsolas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revert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REVERT - SAFE UNDO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457200" y="850600"/>
            <a:ext cx="45624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Revert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Create a NEW commit 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to undo changes from a previous commit.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457200" y="2182588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390525" y="3272475"/>
            <a:ext cx="131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After revert: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8" name="Google Shape;528;p32"/>
          <p:cNvGrpSpPr/>
          <p:nvPr/>
        </p:nvGrpSpPr>
        <p:grpSpPr>
          <a:xfrm>
            <a:off x="457200" y="4093845"/>
            <a:ext cx="8229600" cy="365700"/>
            <a:chOff x="457200" y="3703320"/>
            <a:chExt cx="8229600" cy="365700"/>
          </a:xfrm>
        </p:grpSpPr>
        <p:sp>
          <p:nvSpPr>
            <p:cNvPr id="529" name="Google Shape;529;p32"/>
            <p:cNvSpPr/>
            <p:nvPr/>
          </p:nvSpPr>
          <p:spPr>
            <a:xfrm>
              <a:off x="457200" y="3703320"/>
              <a:ext cx="8229600" cy="365700"/>
            </a:xfrm>
            <a:prstGeom prst="rect">
              <a:avLst/>
            </a:prstGeom>
            <a:solidFill>
              <a:srgbClr val="E8F5E9"/>
            </a:solidFill>
            <a:ln cap="flat" cmpd="sng" w="2540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2"/>
            <p:cNvSpPr/>
            <p:nvPr/>
          </p:nvSpPr>
          <p:spPr>
            <a:xfrm>
              <a:off x="548640" y="3749040"/>
              <a:ext cx="80467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point: History is preserved! The original commit still exists.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1" name="Google Shape;531;p3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2" name="Google Shape;53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50" y="617250"/>
            <a:ext cx="2471525" cy="132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25" y="1759025"/>
            <a:ext cx="2114599" cy="10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8825" y="2974413"/>
            <a:ext cx="2509850" cy="9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RESET VS REVERT - CRITICAL DIFFERENCE!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/>
          <p:cNvSpPr/>
          <p:nvPr/>
        </p:nvSpPr>
        <p:spPr>
          <a:xfrm>
            <a:off x="457200" y="8229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2514600" y="82296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5600700" y="82296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revert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457200" y="11887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2514600" y="118872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Rewrites/erases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5600700" y="118872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Preserves (adds new)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3"/>
          <p:cNvSpPr/>
          <p:nvPr/>
        </p:nvSpPr>
        <p:spPr>
          <a:xfrm>
            <a:off x="457200" y="15544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2514600" y="155448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Destructive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5600700" y="155448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457200" y="192024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Shared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2514600" y="192024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 Never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3"/>
          <p:cNvSpPr/>
          <p:nvPr/>
        </p:nvSpPr>
        <p:spPr>
          <a:xfrm>
            <a:off x="5600700" y="192024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Safe to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/>
          <p:nvPr/>
        </p:nvSpPr>
        <p:spPr>
          <a:xfrm>
            <a:off x="457200" y="228600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Local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2514600" y="228600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OK to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3"/>
          <p:cNvSpPr/>
          <p:nvPr/>
        </p:nvSpPr>
        <p:spPr>
          <a:xfrm>
            <a:off x="5600700" y="228600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OK to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3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Golden Rule: Never reset commits that have been pushed! Use revert instead.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TO USE RESET VS REVERT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reset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640080" y="105156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Working locally (not pushed yet)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640080" y="134416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want to "erase" commits from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640080" y="163677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Cleaning up before pushing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6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revert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640080" y="228600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Commits are already pushed/shared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640080" y="257860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need to maintain history for 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4"/>
          <p:cNvSpPr/>
          <p:nvPr/>
        </p:nvSpPr>
        <p:spPr>
          <a:xfrm>
            <a:off x="640080" y="287121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Others might have pulled your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4"/>
          <p:cNvSpPr/>
          <p:nvPr/>
        </p:nvSpPr>
        <p:spPr>
          <a:xfrm>
            <a:off x="640080" y="316382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Working on main/production branches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4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 doubt, use revert! It's always safer.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5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5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5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5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5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5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5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5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5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5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cherry-pick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6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CHERRY-PICK - COPY SPECIFIC COMMITS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6"/>
          <p:cNvSpPr/>
          <p:nvPr/>
        </p:nvSpPr>
        <p:spPr>
          <a:xfrm>
            <a:off x="457200" y="892275"/>
            <a:ext cx="4886400" cy="15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Cherry-pick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Apply changes from specific commit(s) to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branch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b="1">
              <a:solidFill>
                <a:srgbClr val="B850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made a bugfix on feature branch, but main needs it NOW (before feature is ready)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120" y="685925"/>
            <a:ext cx="3628879" cy="18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705503"/>
            <a:ext cx="6246500" cy="11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3951900"/>
            <a:ext cx="5219755" cy="11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CHERRY-PICK COMMANDS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3" name="Google Shape;6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775" y="864870"/>
            <a:ext cx="5530460" cy="410718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3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TO USE CHERRY-PICK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Perfect for: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Applying hotfixes to multiple branches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Backporting features to older releases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64008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Recovering specific commits from abandoned branches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640080" y="201168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Pulling specific changes without full merge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Calibri"/>
                <a:ea typeface="Calibri"/>
                <a:cs typeface="Calibri"/>
                <a:sym typeface="Calibri"/>
              </a:rPr>
              <a:t>❌ Avoid when: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640080" y="265176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need ALL changes from a branch (use merge)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640080" y="294436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The commit depends on previous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640080" y="323697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You're cherry-picking frequently (consider better branching)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8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Cherry-picked commits get NEW hashes! They're copies, not moves.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9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9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9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9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9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9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9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9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9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onsolas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rebase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REBASE - REWRITE HISTORY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Rebase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Move your branch's commits to start from a different point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Before rebase: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0"/>
          <p:cNvSpPr/>
          <p:nvPr/>
        </p:nvSpPr>
        <p:spPr>
          <a:xfrm>
            <a:off x="457200" y="249459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1" i="0" lang="en-US" sz="12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checkout feature &amp;&amp; git rebase main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40"/>
          <p:cNvGrpSpPr/>
          <p:nvPr/>
        </p:nvGrpSpPr>
        <p:grpSpPr>
          <a:xfrm>
            <a:off x="457195" y="4231000"/>
            <a:ext cx="6057809" cy="411600"/>
            <a:chOff x="457200" y="4173855"/>
            <a:chExt cx="8229600" cy="411600"/>
          </a:xfrm>
        </p:grpSpPr>
        <p:sp>
          <p:nvSpPr>
            <p:cNvPr id="672" name="Google Shape;672;p40"/>
            <p:cNvSpPr/>
            <p:nvPr/>
          </p:nvSpPr>
          <p:spPr>
            <a:xfrm>
              <a:off x="457200" y="4173855"/>
              <a:ext cx="8229600" cy="411600"/>
            </a:xfrm>
            <a:prstGeom prst="rect">
              <a:avLst/>
            </a:prstGeom>
            <a:solidFill>
              <a:srgbClr val="E3F2FD"/>
            </a:solidFill>
            <a:ln cap="flat" cmpd="sng" w="25400">
              <a:solidFill>
                <a:srgbClr val="1565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548640" y="4219575"/>
              <a:ext cx="80466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Result: Feature branch now starts from latest main. Linear history!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4" name="Google Shape;674;p4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5" name="Google Shape;6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337525"/>
            <a:ext cx="5247325" cy="11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2860525"/>
            <a:ext cx="5247322" cy="112662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REBASE 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Step by step: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640080" y="100584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Git finds common ancestor of branches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1"/>
          <p:cNvSpPr/>
          <p:nvPr/>
        </p:nvSpPr>
        <p:spPr>
          <a:xfrm>
            <a:off x="640080" y="129844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Git "removes" your commits temporarily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1"/>
          <p:cNvSpPr/>
          <p:nvPr/>
        </p:nvSpPr>
        <p:spPr>
          <a:xfrm>
            <a:off x="640080" y="159105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Git fast-forwards to target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1"/>
          <p:cNvSpPr/>
          <p:nvPr/>
        </p:nvSpPr>
        <p:spPr>
          <a:xfrm>
            <a:off x="640080" y="188366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Git replays your commits one by 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1"/>
          <p:cNvSpPr/>
          <p:nvPr/>
        </p:nvSpPr>
        <p:spPr>
          <a:xfrm>
            <a:off x="640080" y="2176272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Commits get NEW hashes (they're recreated)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1" name="Google Shape;6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0975" y="2611647"/>
            <a:ext cx="4782052" cy="236992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MERGE VS REBASE - THE GREAT DEBATE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2"/>
          <p:cNvSpPr/>
          <p:nvPr/>
        </p:nvSpPr>
        <p:spPr>
          <a:xfrm>
            <a:off x="457200" y="77724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Aspect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2514600" y="77724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merge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5600700" y="77724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2"/>
          <p:cNvSpPr/>
          <p:nvPr/>
        </p:nvSpPr>
        <p:spPr>
          <a:xfrm>
            <a:off x="457200" y="114300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2514600" y="114300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Preserves (shows merge)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5600700" y="114300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(rewrites)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2"/>
          <p:cNvSpPr/>
          <p:nvPr/>
        </p:nvSpPr>
        <p:spPr>
          <a:xfrm>
            <a:off x="457200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Commits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2"/>
          <p:cNvSpPr/>
          <p:nvPr/>
        </p:nvSpPr>
        <p:spPr>
          <a:xfrm>
            <a:off x="2514600" y="150876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Original hashes kept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2"/>
          <p:cNvSpPr/>
          <p:nvPr/>
        </p:nvSpPr>
        <p:spPr>
          <a:xfrm>
            <a:off x="5600700" y="150876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hashes created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2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457200" y="1874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Conflicts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2514600" y="187452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Resolve once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5600700" y="187452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resolve multiple times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"/>
          <p:cNvSpPr/>
          <p:nvPr/>
        </p:nvSpPr>
        <p:spPr>
          <a:xfrm>
            <a:off x="457200" y="22402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Shared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2"/>
          <p:cNvSpPr/>
          <p:nvPr/>
        </p:nvSpPr>
        <p:spPr>
          <a:xfrm>
            <a:off x="2514600" y="224028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2"/>
          <p:cNvSpPr/>
          <p:nvPr/>
        </p:nvSpPr>
        <p:spPr>
          <a:xfrm>
            <a:off x="5600700" y="2240280"/>
            <a:ext cx="30861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 Dangerous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TO USE MERGE VS REBASE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457200" y="7315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5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merge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3"/>
          <p:cNvSpPr/>
          <p:nvPr/>
        </p:nvSpPr>
        <p:spPr>
          <a:xfrm>
            <a:off x="640080" y="100584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Combining feature into main/production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640080" y="12801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Working with shared branches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3"/>
          <p:cNvSpPr/>
          <p:nvPr/>
        </p:nvSpPr>
        <p:spPr>
          <a:xfrm>
            <a:off x="640080" y="155448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want to preserve the exact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3"/>
          <p:cNvSpPr/>
          <p:nvPr/>
        </p:nvSpPr>
        <p:spPr>
          <a:xfrm>
            <a:off x="640080" y="182880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You're uncertain which to use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457200" y="21488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5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rebase</a:t>
            </a: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640080" y="24231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Updating YOUR feature branch with latest 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640080" y="269748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Cleaning up local commits before pushing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640080" y="297180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You want linear, clean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640080" y="324612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Working on YOUR branch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3"/>
          <p:cNvSpPr/>
          <p:nvPr/>
        </p:nvSpPr>
        <p:spPr>
          <a:xfrm>
            <a:off x="457200" y="3566160"/>
            <a:ext cx="8229600" cy="4116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3"/>
          <p:cNvSpPr/>
          <p:nvPr/>
        </p:nvSpPr>
        <p:spPr>
          <a:xfrm>
            <a:off x="548640" y="361188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Golden Rule: Never rebase commits that have been pushed to shared branches!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3"/>
          <p:cNvSpPr/>
          <p:nvPr/>
        </p:nvSpPr>
        <p:spPr>
          <a:xfrm>
            <a:off x="8412480" y="4572000"/>
            <a:ext cx="365700" cy="3657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MERGE VS REBASE - VISUAL COMPARISON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4"/>
          <p:cNvSpPr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With Merge: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457200" y="223647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Shows when feature was merged (preserves context)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457200" y="2485073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With Rebase: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Clean, linear history (looks like sequential work)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4"/>
          <p:cNvSpPr/>
          <p:nvPr/>
        </p:nvSpPr>
        <p:spPr>
          <a:xfrm>
            <a:off x="457200" y="3970020"/>
            <a:ext cx="8229600" cy="4116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44"/>
          <p:cNvSpPr/>
          <p:nvPr/>
        </p:nvSpPr>
        <p:spPr>
          <a:xfrm>
            <a:off x="548640" y="401574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Neither is "better" — they serve different purposes!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988696"/>
            <a:ext cx="5267324" cy="113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2747768"/>
            <a:ext cx="5267324" cy="759107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5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5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5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5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5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5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5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5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5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5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4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Rebase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6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REBASE ACTIONS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6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Squash commits (combine multiple into one):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6"/>
          <p:cNvSpPr/>
          <p:nvPr/>
        </p:nvSpPr>
        <p:spPr>
          <a:xfrm>
            <a:off x="457200" y="1905953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Result: 3 commits become 1 + password validation = 2 commits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4" name="Google Shape;7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25" y="914400"/>
            <a:ext cx="3848076" cy="962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5" name="Google Shape;785;p46"/>
          <p:cNvGrpSpPr/>
          <p:nvPr/>
        </p:nvGrpSpPr>
        <p:grpSpPr>
          <a:xfrm>
            <a:off x="4710100" y="685925"/>
            <a:ext cx="3948101" cy="939087"/>
            <a:chOff x="457200" y="2115500"/>
            <a:chExt cx="3948101" cy="939087"/>
          </a:xfrm>
        </p:grpSpPr>
        <p:sp>
          <p:nvSpPr>
            <p:cNvPr id="786" name="Google Shape;786;p46"/>
            <p:cNvSpPr/>
            <p:nvPr/>
          </p:nvSpPr>
          <p:spPr>
            <a:xfrm>
              <a:off x="457200" y="2115500"/>
              <a:ext cx="3719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B85042"/>
                  </a:solidFill>
                  <a:latin typeface="Calibri"/>
                  <a:ea typeface="Calibri"/>
                  <a:cs typeface="Calibri"/>
                  <a:sym typeface="Calibri"/>
                </a:rPr>
                <a:t>Reword (change commit message):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87" name="Google Shape;787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7225" y="2364193"/>
              <a:ext cx="3848076" cy="6903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8" name="Google Shape;788;p46"/>
          <p:cNvGrpSpPr/>
          <p:nvPr/>
        </p:nvGrpSpPr>
        <p:grpSpPr>
          <a:xfrm>
            <a:off x="507213" y="2549688"/>
            <a:ext cx="3948101" cy="787071"/>
            <a:chOff x="507213" y="2178213"/>
            <a:chExt cx="3948101" cy="787071"/>
          </a:xfrm>
        </p:grpSpPr>
        <p:sp>
          <p:nvSpPr>
            <p:cNvPr id="789" name="Google Shape;789;p46"/>
            <p:cNvSpPr/>
            <p:nvPr/>
          </p:nvSpPr>
          <p:spPr>
            <a:xfrm>
              <a:off x="507213" y="2178213"/>
              <a:ext cx="3848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B85042"/>
                  </a:solidFill>
                  <a:latin typeface="Calibri"/>
                  <a:ea typeface="Calibri"/>
                  <a:cs typeface="Calibri"/>
                  <a:sym typeface="Calibri"/>
                </a:rPr>
                <a:t>Drop (remove a commit):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0" name="Google Shape;790;p4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7238" y="2410703"/>
              <a:ext cx="3848076" cy="55458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1" name="Google Shape;791;p46"/>
          <p:cNvGrpSpPr/>
          <p:nvPr/>
        </p:nvGrpSpPr>
        <p:grpSpPr>
          <a:xfrm>
            <a:off x="4752975" y="2549700"/>
            <a:ext cx="3998113" cy="936942"/>
            <a:chOff x="457200" y="3900500"/>
            <a:chExt cx="3998113" cy="936942"/>
          </a:xfrm>
        </p:grpSpPr>
        <p:sp>
          <p:nvSpPr>
            <p:cNvPr id="792" name="Google Shape;792;p46"/>
            <p:cNvSpPr/>
            <p:nvPr/>
          </p:nvSpPr>
          <p:spPr>
            <a:xfrm>
              <a:off x="457200" y="3900500"/>
              <a:ext cx="3998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B85042"/>
                  </a:solidFill>
                  <a:latin typeface="Calibri"/>
                  <a:ea typeface="Calibri"/>
                  <a:cs typeface="Calibri"/>
                  <a:sym typeface="Calibri"/>
                </a:rPr>
                <a:t>Reorder (just change the order):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93" name="Google Shape;793;p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7213" y="4129103"/>
              <a:ext cx="3948100" cy="7083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4" name="Google Shape;794;p4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TO USE INTERACTIVE REBASE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7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✅ Perfect for: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7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Squashing: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Combine "WIP", "fix typo", "oops" commits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7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Cleaning up: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creating a Pull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47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Reordering: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Group related changes together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47"/>
          <p:cNvSpPr/>
          <p:nvPr/>
        </p:nvSpPr>
        <p:spPr>
          <a:xfrm>
            <a:off x="640080" y="21945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Editing: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Split one commit into multiple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7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• Fixing: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old commit messages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47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 tip: Clean up your commits with interactive rebase BEFORE pushing to make history easier to review!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8"/>
          <p:cNvSpPr/>
          <p:nvPr/>
        </p:nvSpPr>
        <p:spPr>
          <a:xfrm>
            <a:off x="457200" y="2743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REBASE -I (INTERACTIVE)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8"/>
          <p:cNvSpPr/>
          <p:nvPr/>
        </p:nvSpPr>
        <p:spPr>
          <a:xfrm>
            <a:off x="457200" y="6858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Interactive rebase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Edit, reorder, squash, or drop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8"/>
          <p:cNvSpPr/>
          <p:nvPr/>
        </p:nvSpPr>
        <p:spPr>
          <a:xfrm>
            <a:off x="457200" y="193452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Opens editor with: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8"/>
          <p:cNvSpPr/>
          <p:nvPr/>
        </p:nvSpPr>
        <p:spPr>
          <a:xfrm>
            <a:off x="8412480" y="4572000"/>
            <a:ext cx="365700" cy="3657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50" y="960000"/>
            <a:ext cx="5210174" cy="9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413" y="2262128"/>
            <a:ext cx="5039861" cy="2675573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9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9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9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9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9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9"/>
          <p:cNvSpPr/>
          <p:nvPr/>
        </p:nvSpPr>
        <p:spPr>
          <a:xfrm>
            <a:off x="457200" y="201168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squash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0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0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0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0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0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0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GIT SQUASH?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Squash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Combine multiple commits into a single, cleaner commit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0"/>
          <p:cNvSpPr/>
          <p:nvPr/>
        </p:nvSpPr>
        <p:spPr>
          <a:xfrm>
            <a:off x="457200" y="146304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Before Squash: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0"/>
          <p:cNvSpPr/>
          <p:nvPr/>
        </p:nvSpPr>
        <p:spPr>
          <a:xfrm>
            <a:off x="457200" y="1828800"/>
            <a:ext cx="1371600" cy="548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"/>
          <p:cNvSpPr/>
          <p:nvPr/>
        </p:nvSpPr>
        <p:spPr>
          <a:xfrm>
            <a:off x="457200" y="182880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0"/>
          <p:cNvSpPr/>
          <p:nvPr/>
        </p:nvSpPr>
        <p:spPr>
          <a:xfrm>
            <a:off x="1828800" y="1828800"/>
            <a:ext cx="27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0"/>
          <p:cNvSpPr/>
          <p:nvPr/>
        </p:nvSpPr>
        <p:spPr>
          <a:xfrm>
            <a:off x="2103120" y="1828800"/>
            <a:ext cx="1371600" cy="548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0"/>
          <p:cNvSpPr/>
          <p:nvPr/>
        </p:nvSpPr>
        <p:spPr>
          <a:xfrm>
            <a:off x="2103120" y="182880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Fix typo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0"/>
          <p:cNvSpPr/>
          <p:nvPr/>
        </p:nvSpPr>
        <p:spPr>
          <a:xfrm>
            <a:off x="3474720" y="1828800"/>
            <a:ext cx="27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0"/>
          <p:cNvSpPr/>
          <p:nvPr/>
        </p:nvSpPr>
        <p:spPr>
          <a:xfrm>
            <a:off x="3749040" y="1828800"/>
            <a:ext cx="1371600" cy="548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0"/>
          <p:cNvSpPr/>
          <p:nvPr/>
        </p:nvSpPr>
        <p:spPr>
          <a:xfrm>
            <a:off x="3749040" y="182880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0"/>
          <p:cNvSpPr/>
          <p:nvPr/>
        </p:nvSpPr>
        <p:spPr>
          <a:xfrm>
            <a:off x="5120640" y="1828800"/>
            <a:ext cx="27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0"/>
          <p:cNvSpPr/>
          <p:nvPr/>
        </p:nvSpPr>
        <p:spPr>
          <a:xfrm>
            <a:off x="5394960" y="1828800"/>
            <a:ext cx="1371600" cy="548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0"/>
          <p:cNvSpPr/>
          <p:nvPr/>
        </p:nvSpPr>
        <p:spPr>
          <a:xfrm>
            <a:off x="5394960" y="182880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Done!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0"/>
          <p:cNvSpPr/>
          <p:nvPr/>
        </p:nvSpPr>
        <p:spPr>
          <a:xfrm>
            <a:off x="6766560" y="1828800"/>
            <a:ext cx="27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0"/>
          <p:cNvSpPr/>
          <p:nvPr/>
        </p:nvSpPr>
        <p:spPr>
          <a:xfrm>
            <a:off x="7040880" y="1828800"/>
            <a:ext cx="1371600" cy="5487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0"/>
          <p:cNvSpPr/>
          <p:nvPr/>
        </p:nvSpPr>
        <p:spPr>
          <a:xfrm>
            <a:off x="7040880" y="1828800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Actually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0"/>
          <p:cNvSpPr/>
          <p:nvPr/>
        </p:nvSpPr>
        <p:spPr>
          <a:xfrm>
            <a:off x="3657600" y="24688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⬇ squash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0"/>
          <p:cNvSpPr/>
          <p:nvPr/>
        </p:nvSpPr>
        <p:spPr>
          <a:xfrm>
            <a:off x="457200" y="301752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After Squash: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0"/>
          <p:cNvSpPr/>
          <p:nvPr/>
        </p:nvSpPr>
        <p:spPr>
          <a:xfrm>
            <a:off x="2286000" y="3383280"/>
            <a:ext cx="4572000" cy="64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0"/>
          <p:cNvSpPr/>
          <p:nvPr/>
        </p:nvSpPr>
        <p:spPr>
          <a:xfrm>
            <a:off x="2286000" y="3383280"/>
            <a:ext cx="457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✓ Implement user authentication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0"/>
          <p:cNvSpPr/>
          <p:nvPr/>
        </p:nvSpPr>
        <p:spPr>
          <a:xfrm>
            <a:off x="457200" y="4206240"/>
            <a:ext cx="73200" cy="5487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9" name="Google Shape;869;p50"/>
          <p:cNvGrpSpPr/>
          <p:nvPr/>
        </p:nvGrpSpPr>
        <p:grpSpPr>
          <a:xfrm>
            <a:off x="457223" y="4206250"/>
            <a:ext cx="7167982" cy="548700"/>
            <a:chOff x="457200" y="4206240"/>
            <a:chExt cx="8229600" cy="548700"/>
          </a:xfrm>
        </p:grpSpPr>
        <p:sp>
          <p:nvSpPr>
            <p:cNvPr id="870" name="Google Shape;870;p50"/>
            <p:cNvSpPr/>
            <p:nvPr/>
          </p:nvSpPr>
          <p:spPr>
            <a:xfrm>
              <a:off x="457200" y="4206240"/>
              <a:ext cx="8229600" cy="5487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0"/>
            <p:cNvSpPr/>
            <p:nvPr/>
          </p:nvSpPr>
          <p:spPr>
            <a:xfrm>
              <a:off x="640080" y="4297680"/>
              <a:ext cx="78639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Result: Clean, professional commit history that tells a clear story!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2" name="Google Shape;872;p5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8" name="Google Shape;87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575" y="3242831"/>
            <a:ext cx="5229601" cy="1745768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1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1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1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51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1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SQUASH COMMITS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1"/>
          <p:cNvSpPr/>
          <p:nvPr/>
        </p:nvSpPr>
        <p:spPr>
          <a:xfrm>
            <a:off x="423875" y="1120075"/>
            <a:ext cx="328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1: Start interactive rebase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1"/>
          <p:cNvSpPr/>
          <p:nvPr/>
        </p:nvSpPr>
        <p:spPr>
          <a:xfrm>
            <a:off x="423875" y="2278675"/>
            <a:ext cx="3281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2: Mark commits to squash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1"/>
          <p:cNvSpPr/>
          <p:nvPr/>
        </p:nvSpPr>
        <p:spPr>
          <a:xfrm>
            <a:off x="423875" y="3820363"/>
            <a:ext cx="3248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3: Edit the combined commit message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pic>
        <p:nvPicPr>
          <p:cNvPr id="890" name="Google Shape;8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8575" y="868678"/>
            <a:ext cx="5229591" cy="8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8575" y="1934200"/>
            <a:ext cx="5229601" cy="119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2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2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2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2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2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2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2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SQUASH VS FIXUP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2"/>
          <p:cNvSpPr/>
          <p:nvPr/>
        </p:nvSpPr>
        <p:spPr>
          <a:xfrm>
            <a:off x="457200" y="8229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ways to combine commits — choose based on what you want to keep: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5" name="Google Shape;905;p52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{3099C110-2CEC-48C9-BEDE-466587A57CB7}</a:tableStyleId>
              </a:tblPr>
              <a:tblGrid>
                <a:gridCol w="2011675"/>
                <a:gridCol w="2926075"/>
                <a:gridCol w="32918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Command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Keeps Message?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 When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squash (s)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- combines all messages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You want to edit/combine messages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fixup (f)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✗ No - discards message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 fixes, typos (message not needed)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06" name="Google Shape;906;p52"/>
          <p:cNvSpPr/>
          <p:nvPr/>
        </p:nvSpPr>
        <p:spPr>
          <a:xfrm>
            <a:off x="457200" y="28346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52"/>
          <p:cNvSpPr/>
          <p:nvPr/>
        </p:nvSpPr>
        <p:spPr>
          <a:xfrm>
            <a:off x="457200" y="4297675"/>
            <a:ext cx="7267500" cy="5487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52"/>
          <p:cNvSpPr/>
          <p:nvPr/>
        </p:nvSpPr>
        <p:spPr>
          <a:xfrm>
            <a:off x="457200" y="4297680"/>
            <a:ext cx="73200" cy="5487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2"/>
          <p:cNvSpPr/>
          <p:nvPr/>
        </p:nvSpPr>
        <p:spPr>
          <a:xfrm>
            <a:off x="618702" y="4389115"/>
            <a:ext cx="694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 tip: Use fixup for quick fixes, squash when the commit message adds context!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5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1" name="Google Shape;9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102449"/>
            <a:ext cx="5017275" cy="11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7" name="Google Shape;91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4160575"/>
            <a:ext cx="4610988" cy="725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53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3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53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3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3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3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3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SQUASH EXAMPLE - COMPLETE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53"/>
          <p:cNvSpPr/>
          <p:nvPr/>
        </p:nvSpPr>
        <p:spPr>
          <a:xfrm>
            <a:off x="457200" y="822950"/>
            <a:ext cx="361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1. Your messy commit history: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53"/>
          <p:cNvSpPr/>
          <p:nvPr/>
        </p:nvSpPr>
        <p:spPr>
          <a:xfrm>
            <a:off x="4572000" y="82296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2. Run interactive rebase: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3"/>
          <p:cNvSpPr/>
          <p:nvPr/>
        </p:nvSpPr>
        <p:spPr>
          <a:xfrm>
            <a:off x="4572000" y="2393615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4. Write new commit message &amp; save: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53"/>
          <p:cNvSpPr/>
          <p:nvPr/>
        </p:nvSpPr>
        <p:spPr>
          <a:xfrm>
            <a:off x="457200" y="38404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5. Result - Clean history!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9" name="Google Shape;929;p53"/>
          <p:cNvGrpSpPr/>
          <p:nvPr/>
        </p:nvGrpSpPr>
        <p:grpSpPr>
          <a:xfrm>
            <a:off x="5328375" y="4204600"/>
            <a:ext cx="3134700" cy="398825"/>
            <a:chOff x="5328375" y="4033150"/>
            <a:chExt cx="3134700" cy="398825"/>
          </a:xfrm>
        </p:grpSpPr>
        <p:sp>
          <p:nvSpPr>
            <p:cNvPr id="930" name="Google Shape;930;p53"/>
            <p:cNvSpPr/>
            <p:nvPr/>
          </p:nvSpPr>
          <p:spPr>
            <a:xfrm>
              <a:off x="5328375" y="4033150"/>
              <a:ext cx="3134700" cy="3936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78700" lIns="78700" spcFirstLastPara="1" rIns="78700" wrap="square" tIns="78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3"/>
            <p:cNvSpPr/>
            <p:nvPr/>
          </p:nvSpPr>
          <p:spPr>
            <a:xfrm>
              <a:off x="5328375" y="4033151"/>
              <a:ext cx="63000" cy="393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78700" lIns="78700" spcFirstLastPara="1" rIns="78700" wrap="square" tIns="78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5"/>
            </a:p>
          </p:txBody>
        </p:sp>
        <p:sp>
          <p:nvSpPr>
            <p:cNvPr id="932" name="Google Shape;932;p53"/>
            <p:cNvSpPr/>
            <p:nvPr/>
          </p:nvSpPr>
          <p:spPr>
            <a:xfrm>
              <a:off x="5391375" y="4038375"/>
              <a:ext cx="30717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78700" spcFirstLastPara="1" rIns="78700" wrap="square" tIns="393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5"/>
                <a:buFont typeface="Arial"/>
                <a:buNone/>
              </a:pPr>
              <a:r>
                <a:rPr b="0" i="0" lang="en-US" sz="120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 messy commits → 1 clean, professional commit!</a:t>
              </a:r>
              <a:endParaRPr b="0" i="0" sz="12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3" name="Google Shape;933;p5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4" name="Google Shape;93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737" y="1117549"/>
            <a:ext cx="1861637" cy="12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3375" y="1188725"/>
            <a:ext cx="1732045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8375" y="2785388"/>
            <a:ext cx="2101967" cy="11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53"/>
          <p:cNvSpPr/>
          <p:nvPr/>
        </p:nvSpPr>
        <p:spPr>
          <a:xfrm>
            <a:off x="530400" y="2419665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3. Change pick to squash: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8" name="Google Shape;938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7925" y="2707263"/>
            <a:ext cx="1359758" cy="11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4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54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4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4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54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54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4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USE SQUASH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4"/>
          <p:cNvSpPr/>
          <p:nvPr/>
        </p:nvSpPr>
        <p:spPr>
          <a:xfrm>
            <a:off x="457200" y="86868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 PERFECT FOR: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4"/>
          <p:cNvSpPr/>
          <p:nvPr/>
        </p:nvSpPr>
        <p:spPr>
          <a:xfrm>
            <a:off x="640080" y="1234440"/>
            <a:ext cx="3749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creating a Pull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Combining "WIP" and "fix typo"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Cleaning up feature branch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code review changes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Organizing commits by logical changes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4"/>
          <p:cNvSpPr/>
          <p:nvPr/>
        </p:nvSpPr>
        <p:spPr>
          <a:xfrm>
            <a:off x="4754880" y="868680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✗  AVOID WHEN: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4"/>
          <p:cNvSpPr/>
          <p:nvPr/>
        </p:nvSpPr>
        <p:spPr>
          <a:xfrm>
            <a:off x="4937760" y="1234440"/>
            <a:ext cx="3749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Commits already pushed to shared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Others have based work on your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main/master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need to preserve detailed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4"/>
          <p:cNvSpPr/>
          <p:nvPr/>
        </p:nvSpPr>
        <p:spPr>
          <a:xfrm>
            <a:off x="457200" y="3200400"/>
            <a:ext cx="8229600" cy="5487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4"/>
          <p:cNvSpPr/>
          <p:nvPr/>
        </p:nvSpPr>
        <p:spPr>
          <a:xfrm>
            <a:off x="457200" y="3200400"/>
            <a:ext cx="73200" cy="5487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4"/>
          <p:cNvSpPr/>
          <p:nvPr/>
        </p:nvSpPr>
        <p:spPr>
          <a:xfrm>
            <a:off x="640080" y="3291840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Golden Rule: Only squash commits that have NOT been pushed to a shared branch!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4"/>
          <p:cNvSpPr/>
          <p:nvPr/>
        </p:nvSpPr>
        <p:spPr>
          <a:xfrm>
            <a:off x="457200" y="39319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BEST PRACTICE WORKFLOW: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54"/>
          <p:cNvSpPr/>
          <p:nvPr/>
        </p:nvSpPr>
        <p:spPr>
          <a:xfrm>
            <a:off x="731520" y="4343400"/>
            <a:ext cx="2377500" cy="502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54"/>
          <p:cNvSpPr/>
          <p:nvPr/>
        </p:nvSpPr>
        <p:spPr>
          <a:xfrm>
            <a:off x="731520" y="434340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with many commits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4"/>
          <p:cNvSpPr/>
          <p:nvPr/>
        </p:nvSpPr>
        <p:spPr>
          <a:xfrm>
            <a:off x="3108960" y="4343400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4"/>
          <p:cNvSpPr/>
          <p:nvPr/>
        </p:nvSpPr>
        <p:spPr>
          <a:xfrm>
            <a:off x="3474720" y="4343400"/>
            <a:ext cx="2377500" cy="5028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54"/>
          <p:cNvSpPr/>
          <p:nvPr/>
        </p:nvSpPr>
        <p:spPr>
          <a:xfrm>
            <a:off x="3474720" y="4343400"/>
            <a:ext cx="23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Squash before PR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54"/>
          <p:cNvSpPr/>
          <p:nvPr/>
        </p:nvSpPr>
        <p:spPr>
          <a:xfrm>
            <a:off x="5852160" y="4343400"/>
            <a:ext cx="365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54"/>
          <p:cNvSpPr/>
          <p:nvPr/>
        </p:nvSpPr>
        <p:spPr>
          <a:xfrm>
            <a:off x="6217924" y="4343400"/>
            <a:ext cx="2103000" cy="5028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4"/>
          <p:cNvSpPr/>
          <p:nvPr/>
        </p:nvSpPr>
        <p:spPr>
          <a:xfrm>
            <a:off x="6217924" y="4343400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clean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5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5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55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55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55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TROUBLESHOOTING SQUASH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430350" y="1257250"/>
            <a:ext cx="344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Problem 1: Squash conflicts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5"/>
          <p:cNvSpPr/>
          <p:nvPr/>
        </p:nvSpPr>
        <p:spPr>
          <a:xfrm>
            <a:off x="457200" y="2411700"/>
            <a:ext cx="339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Problem 2: Want to abort squash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55"/>
          <p:cNvSpPr/>
          <p:nvPr/>
        </p:nvSpPr>
        <p:spPr>
          <a:xfrm>
            <a:off x="443700" y="3366625"/>
            <a:ext cx="341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Problem 3: Already pushed commits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2" name="Google Shape;982;p55"/>
          <p:cNvGrpSpPr/>
          <p:nvPr/>
        </p:nvGrpSpPr>
        <p:grpSpPr>
          <a:xfrm>
            <a:off x="457179" y="4526275"/>
            <a:ext cx="7324344" cy="457200"/>
            <a:chOff x="457200" y="4526280"/>
            <a:chExt cx="8229600" cy="457200"/>
          </a:xfrm>
        </p:grpSpPr>
        <p:sp>
          <p:nvSpPr>
            <p:cNvPr id="983" name="Google Shape;983;p55"/>
            <p:cNvSpPr/>
            <p:nvPr/>
          </p:nvSpPr>
          <p:spPr>
            <a:xfrm>
              <a:off x="457200" y="4709160"/>
              <a:ext cx="54900" cy="549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55"/>
            <p:cNvSpPr/>
            <p:nvPr/>
          </p:nvSpPr>
          <p:spPr>
            <a:xfrm>
              <a:off x="457200" y="4526280"/>
              <a:ext cx="8229600" cy="4572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55"/>
            <p:cNvSpPr/>
            <p:nvPr/>
          </p:nvSpPr>
          <p:spPr>
            <a:xfrm>
              <a:off x="457200" y="4526280"/>
              <a:ext cx="73200" cy="4572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55"/>
            <p:cNvSpPr/>
            <p:nvPr/>
          </p:nvSpPr>
          <p:spPr>
            <a:xfrm>
              <a:off x="640080" y="4617720"/>
              <a:ext cx="7863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Always use --force-with-lease instead of --force. It prevents overwriting others' work!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7" name="Google Shape;987;p5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8" name="Google Shape;9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875" y="823025"/>
            <a:ext cx="4515200" cy="11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1875" y="2198350"/>
            <a:ext cx="4491675" cy="7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1875" y="3049801"/>
            <a:ext cx="4491675" cy="1182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6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6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6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56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6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6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56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SQUASH - QUICK REFERENCE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3" name="Google Shape;1003;p56"/>
          <p:cNvGraphicFramePr/>
          <p:nvPr/>
        </p:nvGraphicFramePr>
        <p:xfrm>
          <a:off x="45720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{3099C110-2CEC-48C9-BEDE-466587A57CB7}</a:tableStyleId>
              </a:tblPr>
              <a:tblGrid>
                <a:gridCol w="4114800"/>
                <a:gridCol w="4114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Command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Squash last N commits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rebase -i HEAD~N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Squash down to specific commit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rebase -i &lt;commit-hash&gt;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Abort rebase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rebase --abort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Continue after fixing conflicts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rebase --continue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Force push after squash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8D4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0078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push --force-with-lease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4" name="Google Shape;1004;p56"/>
          <p:cNvSpPr/>
          <p:nvPr/>
        </p:nvSpPr>
        <p:spPr>
          <a:xfrm>
            <a:off x="457200" y="32004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INTERACTIVE REBASE KEYWORDS: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6" name="Google Shape;100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338" y="3566100"/>
            <a:ext cx="5167323" cy="15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7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7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57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57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57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57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7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7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57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7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7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onsolas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reflog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5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8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 REFLOG - YOUR SAFETY NET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58"/>
          <p:cNvSpPr/>
          <p:nvPr/>
        </p:nvSpPr>
        <p:spPr>
          <a:xfrm>
            <a:off x="457150" y="822025"/>
            <a:ext cx="379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Reflog</a:t>
            </a: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Log of everywhere HEAD has pointed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(local only)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58"/>
          <p:cNvSpPr/>
          <p:nvPr/>
        </p:nvSpPr>
        <p:spPr>
          <a:xfrm>
            <a:off x="457200" y="1498283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3" name="Google Shape;1033;p58"/>
          <p:cNvGrpSpPr/>
          <p:nvPr/>
        </p:nvGrpSpPr>
        <p:grpSpPr>
          <a:xfrm>
            <a:off x="457200" y="3367088"/>
            <a:ext cx="8229600" cy="502920"/>
            <a:chOff x="457200" y="2743200"/>
            <a:chExt cx="8229600" cy="502920"/>
          </a:xfrm>
        </p:grpSpPr>
        <p:sp>
          <p:nvSpPr>
            <p:cNvPr id="1034" name="Google Shape;1034;p58"/>
            <p:cNvSpPr/>
            <p:nvPr/>
          </p:nvSpPr>
          <p:spPr>
            <a:xfrm>
              <a:off x="457200" y="2743200"/>
              <a:ext cx="8229600" cy="502920"/>
            </a:xfrm>
            <a:prstGeom prst="rect">
              <a:avLst/>
            </a:prstGeom>
            <a:solidFill>
              <a:srgbClr val="E8F5E9"/>
            </a:solidFill>
            <a:ln cap="flat" cmpd="sng" w="2540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58"/>
            <p:cNvSpPr/>
            <p:nvPr/>
          </p:nvSpPr>
          <p:spPr>
            <a:xfrm>
              <a:off x="548640" y="2788920"/>
              <a:ext cx="804672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Amazing fact: Reflog tracks everything—even commits "deleted" by reset! It's your time machine.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6" name="Google Shape;1036;p5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7" name="Google Shape;103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600" y="764750"/>
            <a:ext cx="3967174" cy="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3575" y="1705529"/>
            <a:ext cx="5276851" cy="15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9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RECOVERING "LOST" COMMITS WITH REFLOG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9"/>
          <p:cNvSpPr/>
          <p:nvPr/>
        </p:nvSpPr>
        <p:spPr>
          <a:xfrm>
            <a:off x="457200" y="1016100"/>
            <a:ext cx="165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Disaster scenario: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9"/>
          <p:cNvSpPr/>
          <p:nvPr/>
        </p:nvSpPr>
        <p:spPr>
          <a:xfrm>
            <a:off x="457200" y="2457450"/>
            <a:ext cx="12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Recovery: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9"/>
          <p:cNvSpPr/>
          <p:nvPr/>
        </p:nvSpPr>
        <p:spPr>
          <a:xfrm>
            <a:off x="457200" y="4020503"/>
            <a:ext cx="8229600" cy="457200"/>
          </a:xfrm>
          <a:prstGeom prst="rect">
            <a:avLst/>
          </a:prstGeom>
          <a:solidFill>
            <a:srgbClr val="FFF3E0"/>
          </a:solidFill>
          <a:ln cap="flat" cmpd="sng" w="25400">
            <a:solidFill>
              <a:srgbClr val="F57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59"/>
          <p:cNvSpPr/>
          <p:nvPr/>
        </p:nvSpPr>
        <p:spPr>
          <a:xfrm>
            <a:off x="548640" y="4066223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Reflog entries expire (default 90 days). Don't wait too long to recover!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9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1" name="Google Shape;105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525" y="727525"/>
            <a:ext cx="4491050" cy="8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250" y="1574875"/>
            <a:ext cx="4851324" cy="223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5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REFLOG RECOVERY SCENARIOS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0"/>
          <p:cNvSpPr/>
          <p:nvPr/>
        </p:nvSpPr>
        <p:spPr>
          <a:xfrm>
            <a:off x="457200" y="878450"/>
            <a:ext cx="29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Scenario 1: Recover from bad reset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0"/>
          <p:cNvSpPr/>
          <p:nvPr/>
        </p:nvSpPr>
        <p:spPr>
          <a:xfrm>
            <a:off x="457200" y="1807850"/>
            <a:ext cx="29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Scenario 2: Recover from bad rebase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60"/>
          <p:cNvSpPr/>
          <p:nvPr/>
        </p:nvSpPr>
        <p:spPr>
          <a:xfrm>
            <a:off x="457200" y="2903538"/>
            <a:ext cx="3033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Scenario 3: Find deleted branch's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0"/>
          <p:cNvSpPr/>
          <p:nvPr/>
        </p:nvSpPr>
        <p:spPr>
          <a:xfrm>
            <a:off x="457200" y="3895725"/>
            <a:ext cx="82296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0"/>
          <p:cNvSpPr/>
          <p:nvPr/>
        </p:nvSpPr>
        <p:spPr>
          <a:xfrm>
            <a:off x="548640" y="3941445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Remember: git reflog is your "undo" for almost any Git operation!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0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6" name="Google Shape;10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075" y="684949"/>
            <a:ext cx="5043499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6175" y="1507425"/>
            <a:ext cx="5043499" cy="971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6125" y="2685926"/>
            <a:ext cx="5043597" cy="9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6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1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1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1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1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1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1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1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1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1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1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6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 Comparison Summary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61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COMMANDS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2"/>
          <p:cNvSpPr/>
          <p:nvPr/>
        </p:nvSpPr>
        <p:spPr>
          <a:xfrm>
            <a:off x="457200" y="777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2"/>
          <p:cNvSpPr/>
          <p:nvPr/>
        </p:nvSpPr>
        <p:spPr>
          <a:xfrm>
            <a:off x="2743200" y="77724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It Does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2"/>
          <p:cNvSpPr/>
          <p:nvPr/>
        </p:nvSpPr>
        <p:spPr>
          <a:xfrm>
            <a:off x="6172200" y="777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Modifies History?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2"/>
          <p:cNvSpPr/>
          <p:nvPr/>
        </p:nvSpPr>
        <p:spPr>
          <a:xfrm>
            <a:off x="457200" y="11430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reset --soft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62"/>
          <p:cNvSpPr/>
          <p:nvPr/>
        </p:nvSpPr>
        <p:spPr>
          <a:xfrm>
            <a:off x="2743200" y="114300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commit, keep staged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62"/>
          <p:cNvSpPr/>
          <p:nvPr/>
        </p:nvSpPr>
        <p:spPr>
          <a:xfrm>
            <a:off x="6172200" y="114300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6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2"/>
          <p:cNvSpPr/>
          <p:nvPr/>
        </p:nvSpPr>
        <p:spPr>
          <a:xfrm>
            <a:off x="457200" y="15087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reset --mixed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62"/>
          <p:cNvSpPr/>
          <p:nvPr/>
        </p:nvSpPr>
        <p:spPr>
          <a:xfrm>
            <a:off x="2743200" y="1508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commit, unstage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62"/>
          <p:cNvSpPr/>
          <p:nvPr/>
        </p:nvSpPr>
        <p:spPr>
          <a:xfrm>
            <a:off x="6172200" y="150876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62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2"/>
          <p:cNvSpPr/>
          <p:nvPr/>
        </p:nvSpPr>
        <p:spPr>
          <a:xfrm>
            <a:off x="457200" y="1874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reset --hard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62"/>
          <p:cNvSpPr/>
          <p:nvPr/>
        </p:nvSpPr>
        <p:spPr>
          <a:xfrm>
            <a:off x="2743200" y="187452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Undo commit, discard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62"/>
          <p:cNvSpPr/>
          <p:nvPr/>
        </p:nvSpPr>
        <p:spPr>
          <a:xfrm>
            <a:off x="6172200" y="187452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Yes ⚠️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62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2"/>
          <p:cNvSpPr/>
          <p:nvPr/>
        </p:nvSpPr>
        <p:spPr>
          <a:xfrm>
            <a:off x="457200" y="2240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revert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2"/>
          <p:cNvSpPr/>
          <p:nvPr/>
        </p:nvSpPr>
        <p:spPr>
          <a:xfrm>
            <a:off x="2743200" y="22402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undo 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62"/>
          <p:cNvSpPr/>
          <p:nvPr/>
        </p:nvSpPr>
        <p:spPr>
          <a:xfrm>
            <a:off x="6172200" y="22402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6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6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6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COMMANDS COMPARISON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6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3"/>
          <p:cNvSpPr/>
          <p:nvPr/>
        </p:nvSpPr>
        <p:spPr>
          <a:xfrm>
            <a:off x="457200" y="77724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3"/>
          <p:cNvSpPr/>
          <p:nvPr/>
        </p:nvSpPr>
        <p:spPr>
          <a:xfrm>
            <a:off x="2514600" y="77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63"/>
          <p:cNvSpPr/>
          <p:nvPr/>
        </p:nvSpPr>
        <p:spPr>
          <a:xfrm>
            <a:off x="5715000" y="7772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History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6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3"/>
          <p:cNvSpPr/>
          <p:nvPr/>
        </p:nvSpPr>
        <p:spPr>
          <a:xfrm>
            <a:off x="457200" y="114300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merge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63"/>
          <p:cNvSpPr/>
          <p:nvPr/>
        </p:nvSpPr>
        <p:spPr>
          <a:xfrm>
            <a:off x="2514600" y="1143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Combine branches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63"/>
          <p:cNvSpPr/>
          <p:nvPr/>
        </p:nvSpPr>
        <p:spPr>
          <a:xfrm>
            <a:off x="5715000" y="114300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merge 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3"/>
          <p:cNvSpPr/>
          <p:nvPr/>
        </p:nvSpPr>
        <p:spPr>
          <a:xfrm>
            <a:off x="457200" y="150876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63"/>
          <p:cNvSpPr/>
          <p:nvPr/>
        </p:nvSpPr>
        <p:spPr>
          <a:xfrm>
            <a:off x="2514600" y="1508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 branch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63"/>
          <p:cNvSpPr/>
          <p:nvPr/>
        </p:nvSpPr>
        <p:spPr>
          <a:xfrm>
            <a:off x="5715000" y="15087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Rewrites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63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63"/>
          <p:cNvSpPr/>
          <p:nvPr/>
        </p:nvSpPr>
        <p:spPr>
          <a:xfrm>
            <a:off x="457200" y="187452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cherry-pick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63"/>
          <p:cNvSpPr/>
          <p:nvPr/>
        </p:nvSpPr>
        <p:spPr>
          <a:xfrm>
            <a:off x="2514600" y="1874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Copy specific commits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63"/>
          <p:cNvSpPr/>
          <p:nvPr/>
        </p:nvSpPr>
        <p:spPr>
          <a:xfrm>
            <a:off x="5715000" y="1874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new commits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63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63"/>
          <p:cNvSpPr/>
          <p:nvPr/>
        </p:nvSpPr>
        <p:spPr>
          <a:xfrm>
            <a:off x="457200" y="2240280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rebase -i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63"/>
          <p:cNvSpPr/>
          <p:nvPr/>
        </p:nvSpPr>
        <p:spPr>
          <a:xfrm>
            <a:off x="2514600" y="22402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Edit commit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63"/>
          <p:cNvSpPr/>
          <p:nvPr/>
        </p:nvSpPr>
        <p:spPr>
          <a:xfrm>
            <a:off x="5715000" y="22402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Rewrites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63"/>
          <p:cNvSpPr/>
          <p:nvPr/>
        </p:nvSpPr>
        <p:spPr>
          <a:xfrm>
            <a:off x="457200" y="2997517"/>
            <a:ext cx="8229600" cy="457200"/>
          </a:xfrm>
          <a:prstGeom prst="rect">
            <a:avLst/>
          </a:prstGeom>
          <a:solidFill>
            <a:srgbClr val="E3F2FD"/>
          </a:solidFill>
          <a:ln cap="flat" cmpd="sng" w="254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63"/>
          <p:cNvSpPr/>
          <p:nvPr/>
        </p:nvSpPr>
        <p:spPr>
          <a:xfrm>
            <a:off x="548640" y="3043238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Rule of thumb: Anything that "rewrites history" should only be used on unpushed commits!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6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6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4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COMMAND SHOULD I USE?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64"/>
          <p:cNvSpPr/>
          <p:nvPr/>
        </p:nvSpPr>
        <p:spPr>
          <a:xfrm>
            <a:off x="457200" y="94773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Need to undo commits?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64"/>
          <p:cNvSpPr/>
          <p:nvPr/>
        </p:nvSpPr>
        <p:spPr>
          <a:xfrm>
            <a:off x="640080" y="1176338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Pushed? → git revert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64"/>
          <p:cNvSpPr/>
          <p:nvPr/>
        </p:nvSpPr>
        <p:spPr>
          <a:xfrm>
            <a:off x="640080" y="1432370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Not pushed, keep changes? → git reset --soft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64"/>
          <p:cNvSpPr/>
          <p:nvPr/>
        </p:nvSpPr>
        <p:spPr>
          <a:xfrm>
            <a:off x="640080" y="1688402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Not pushed, discard changes? → git reset --hard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64"/>
          <p:cNvSpPr/>
          <p:nvPr/>
        </p:nvSpPr>
        <p:spPr>
          <a:xfrm>
            <a:off x="457200" y="199929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Need to integrate branches?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64"/>
          <p:cNvSpPr/>
          <p:nvPr/>
        </p:nvSpPr>
        <p:spPr>
          <a:xfrm>
            <a:off x="640080" y="2227898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Combining feature into main? → git 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64"/>
          <p:cNvSpPr/>
          <p:nvPr/>
        </p:nvSpPr>
        <p:spPr>
          <a:xfrm>
            <a:off x="640080" y="2483930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Updating YOUR branch with main? → git rebase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64"/>
          <p:cNvSpPr/>
          <p:nvPr/>
        </p:nvSpPr>
        <p:spPr>
          <a:xfrm>
            <a:off x="640080" y="2739962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Need just ONE commit? → git cherry-pick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64"/>
          <p:cNvSpPr/>
          <p:nvPr/>
        </p:nvSpPr>
        <p:spPr>
          <a:xfrm>
            <a:off x="457200" y="305085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Need to clean up commits?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64"/>
          <p:cNvSpPr/>
          <p:nvPr/>
        </p:nvSpPr>
        <p:spPr>
          <a:xfrm>
            <a:off x="640080" y="3279457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Before pushing? → git rebase -i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64"/>
          <p:cNvSpPr/>
          <p:nvPr/>
        </p:nvSpPr>
        <p:spPr>
          <a:xfrm>
            <a:off x="457200" y="359949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Made a mistake?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64"/>
          <p:cNvSpPr/>
          <p:nvPr/>
        </p:nvSpPr>
        <p:spPr>
          <a:xfrm>
            <a:off x="640080" y="3828098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Check git reflog for recovery options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64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6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65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65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65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65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65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65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65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65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65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5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6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Summary &amp; Best Practices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65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6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ADVANCED COMMANDS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66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6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2" name="Google Shape;119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6388" y="783895"/>
            <a:ext cx="5191232" cy="410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7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GOLDEN RULES FOR ADVANCED GIT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67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🔑 Safety Rules: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67"/>
          <p:cNvSpPr/>
          <p:nvPr/>
        </p:nvSpPr>
        <p:spPr>
          <a:xfrm>
            <a:off x="640080" y="100584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Never rebase or reset pushed commits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67"/>
          <p:cNvSpPr/>
          <p:nvPr/>
        </p:nvSpPr>
        <p:spPr>
          <a:xfrm>
            <a:off x="640080" y="129844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Always use revert for shared branches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67"/>
          <p:cNvSpPr/>
          <p:nvPr/>
        </p:nvSpPr>
        <p:spPr>
          <a:xfrm>
            <a:off x="640080" y="159105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Always check reflog before panicking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67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✨ Best Practices: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67"/>
          <p:cNvSpPr/>
          <p:nvPr/>
        </p:nvSpPr>
        <p:spPr>
          <a:xfrm>
            <a:off x="640080" y="224028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Clean up commits with rebase -i BEFORE pushing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67"/>
          <p:cNvSpPr/>
          <p:nvPr/>
        </p:nvSpPr>
        <p:spPr>
          <a:xfrm>
            <a:off x="640080" y="2532888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Use descriptive stash messages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67"/>
          <p:cNvSpPr/>
          <p:nvPr/>
        </p:nvSpPr>
        <p:spPr>
          <a:xfrm>
            <a:off x="640080" y="2825496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Prefer merge for integrating features into main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67"/>
          <p:cNvSpPr/>
          <p:nvPr/>
        </p:nvSpPr>
        <p:spPr>
          <a:xfrm>
            <a:off x="640080" y="3118104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Prefer rebase for updating YOUR feature branch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6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E8F5E9"/>
          </a:solidFill>
          <a:ln cap="flat" cmpd="sng" w="254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67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Master these commands and you'll handle ANY Git situation!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67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6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8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 COMMANDS REFERENCE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68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6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0" name="Google Shape;122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538" y="784920"/>
            <a:ext cx="4818925" cy="415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9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69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69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69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69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9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69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REMOVING ALREADY TRACKED FILES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9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69"/>
          <p:cNvSpPr/>
          <p:nvPr/>
        </p:nvSpPr>
        <p:spPr>
          <a:xfrm>
            <a:off x="457200" y="10515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committed </a:t>
            </a:r>
            <a:r>
              <a:rPr b="0" i="0" lang="en-US" sz="15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early in the project. Now you add it to </a:t>
            </a:r>
            <a:r>
              <a:rPr b="0" i="0" lang="en-US" sz="15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.gitignore</a:t>
            </a: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 but Git keeps tracking it!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9"/>
          <p:cNvSpPr/>
          <p:nvPr/>
        </p:nvSpPr>
        <p:spPr>
          <a:xfrm>
            <a:off x="457200" y="1463040"/>
            <a:ext cx="8229600" cy="5028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69"/>
          <p:cNvSpPr/>
          <p:nvPr/>
        </p:nvSpPr>
        <p:spPr>
          <a:xfrm>
            <a:off x="548640" y="1508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⚠ Why?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.gitignore only prevents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untracked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files from being added. Files already tracked are NOT affected.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69"/>
          <p:cNvSpPr/>
          <p:nvPr/>
        </p:nvSpPr>
        <p:spPr>
          <a:xfrm>
            <a:off x="457200" y="21031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The Solution: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9"/>
          <p:cNvSpPr/>
          <p:nvPr/>
        </p:nvSpPr>
        <p:spPr>
          <a:xfrm>
            <a:off x="457200" y="2377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en-US" sz="14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git rm --cached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remove the file from Git's index (staging area) while keeping it on disk.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9"/>
          <p:cNvSpPr/>
          <p:nvPr/>
        </p:nvSpPr>
        <p:spPr>
          <a:xfrm>
            <a:off x="4785397" y="2697480"/>
            <a:ext cx="30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happens: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69"/>
          <p:cNvSpPr/>
          <p:nvPr/>
        </p:nvSpPr>
        <p:spPr>
          <a:xfrm>
            <a:off x="4785397" y="2999232"/>
            <a:ext cx="3017400" cy="6402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69"/>
          <p:cNvSpPr/>
          <p:nvPr/>
        </p:nvSpPr>
        <p:spPr>
          <a:xfrm>
            <a:off x="4876837" y="3035808"/>
            <a:ext cx="283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.env is tracked by Git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(changes show in git status)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69"/>
          <p:cNvSpPr/>
          <p:nvPr/>
        </p:nvSpPr>
        <p:spPr>
          <a:xfrm>
            <a:off x="4785397" y="3657600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↓  git rm --cached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69"/>
          <p:cNvSpPr/>
          <p:nvPr/>
        </p:nvSpPr>
        <p:spPr>
          <a:xfrm>
            <a:off x="4785397" y="3977640"/>
            <a:ext cx="3017400" cy="6402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9"/>
          <p:cNvSpPr/>
          <p:nvPr/>
        </p:nvSpPr>
        <p:spPr>
          <a:xfrm>
            <a:off x="4876837" y="4014216"/>
            <a:ext cx="2834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.env still exists locally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Git ignores it 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69"/>
          <p:cNvSpPr/>
          <p:nvPr/>
        </p:nvSpPr>
        <p:spPr>
          <a:xfrm>
            <a:off x="457200" y="4663450"/>
            <a:ext cx="7782300" cy="41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69"/>
          <p:cNvSpPr/>
          <p:nvPr/>
        </p:nvSpPr>
        <p:spPr>
          <a:xfrm>
            <a:off x="457200" y="4663440"/>
            <a:ext cx="73200" cy="41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69"/>
          <p:cNvSpPr/>
          <p:nvPr/>
        </p:nvSpPr>
        <p:spPr>
          <a:xfrm>
            <a:off x="630142" y="4736602"/>
            <a:ext cx="74364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 Warning: The file remains in Git history! To fully remove secrets, you need git filter-branch or BFG Repo-Cleaner.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8" name="Google Shape;12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2" y="2709458"/>
            <a:ext cx="3510444" cy="18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6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70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70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70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0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70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70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70"/>
          <p:cNvSpPr/>
          <p:nvPr/>
        </p:nvSpPr>
        <p:spPr>
          <a:xfrm>
            <a:off x="457200" y="201168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-US" sz="4800"/>
              <a:t>Extra: </a:t>
            </a: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 Requests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7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71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71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71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71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71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1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7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PULL REQUEST?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7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Pull Request (PR)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A request to merge your changes into another branch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71"/>
          <p:cNvSpPr/>
          <p:nvPr/>
        </p:nvSpPr>
        <p:spPr>
          <a:xfrm>
            <a:off x="457200" y="12801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Also called "Merge Request" (MR) in GitLab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71"/>
          <p:cNvSpPr/>
          <p:nvPr/>
        </p:nvSpPr>
        <p:spPr>
          <a:xfrm>
            <a:off x="457200" y="16916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PR Workflow: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71"/>
          <p:cNvSpPr/>
          <p:nvPr/>
        </p:nvSpPr>
        <p:spPr>
          <a:xfrm>
            <a:off x="274320" y="2057400"/>
            <a:ext cx="1280100" cy="822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71"/>
          <p:cNvSpPr/>
          <p:nvPr/>
        </p:nvSpPr>
        <p:spPr>
          <a:xfrm>
            <a:off x="27432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71"/>
          <p:cNvSpPr/>
          <p:nvPr/>
        </p:nvSpPr>
        <p:spPr>
          <a:xfrm>
            <a:off x="1554480" y="2057400"/>
            <a:ext cx="18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71"/>
          <p:cNvSpPr/>
          <p:nvPr/>
        </p:nvSpPr>
        <p:spPr>
          <a:xfrm>
            <a:off x="1737360" y="2057400"/>
            <a:ext cx="1280100" cy="822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71"/>
          <p:cNvSpPr/>
          <p:nvPr/>
        </p:nvSpPr>
        <p:spPr>
          <a:xfrm>
            <a:off x="173736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71"/>
          <p:cNvSpPr/>
          <p:nvPr/>
        </p:nvSpPr>
        <p:spPr>
          <a:xfrm>
            <a:off x="3017520" y="2057400"/>
            <a:ext cx="18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71"/>
          <p:cNvSpPr/>
          <p:nvPr/>
        </p:nvSpPr>
        <p:spPr>
          <a:xfrm>
            <a:off x="3200400" y="2057400"/>
            <a:ext cx="1280100" cy="8229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71"/>
          <p:cNvSpPr/>
          <p:nvPr/>
        </p:nvSpPr>
        <p:spPr>
          <a:xfrm>
            <a:off x="320040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71"/>
          <p:cNvSpPr/>
          <p:nvPr/>
        </p:nvSpPr>
        <p:spPr>
          <a:xfrm>
            <a:off x="4480560" y="2057400"/>
            <a:ext cx="18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71"/>
          <p:cNvSpPr/>
          <p:nvPr/>
        </p:nvSpPr>
        <p:spPr>
          <a:xfrm>
            <a:off x="4663440" y="2057400"/>
            <a:ext cx="1280100" cy="8229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71"/>
          <p:cNvSpPr/>
          <p:nvPr/>
        </p:nvSpPr>
        <p:spPr>
          <a:xfrm>
            <a:off x="466344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71"/>
          <p:cNvSpPr/>
          <p:nvPr/>
        </p:nvSpPr>
        <p:spPr>
          <a:xfrm>
            <a:off x="5943600" y="2057400"/>
            <a:ext cx="18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71"/>
          <p:cNvSpPr/>
          <p:nvPr/>
        </p:nvSpPr>
        <p:spPr>
          <a:xfrm>
            <a:off x="6126480" y="2057400"/>
            <a:ext cx="1280100" cy="822900"/>
          </a:xfrm>
          <a:prstGeom prst="rect">
            <a:avLst/>
          </a:prstGeom>
          <a:solidFill>
            <a:srgbClr val="F57C0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71"/>
          <p:cNvSpPr/>
          <p:nvPr/>
        </p:nvSpPr>
        <p:spPr>
          <a:xfrm>
            <a:off x="612648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71"/>
          <p:cNvSpPr/>
          <p:nvPr/>
        </p:nvSpPr>
        <p:spPr>
          <a:xfrm>
            <a:off x="7406640" y="2057400"/>
            <a:ext cx="183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71"/>
          <p:cNvSpPr/>
          <p:nvPr/>
        </p:nvSpPr>
        <p:spPr>
          <a:xfrm>
            <a:off x="7589520" y="2057400"/>
            <a:ext cx="1280100" cy="8229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71"/>
          <p:cNvSpPr/>
          <p:nvPr/>
        </p:nvSpPr>
        <p:spPr>
          <a:xfrm>
            <a:off x="7589520" y="20574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71"/>
          <p:cNvSpPr/>
          <p:nvPr/>
        </p:nvSpPr>
        <p:spPr>
          <a:xfrm>
            <a:off x="457200" y="310896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Why Pull Requests Matter: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71"/>
          <p:cNvSpPr/>
          <p:nvPr/>
        </p:nvSpPr>
        <p:spPr>
          <a:xfrm>
            <a:off x="640080" y="3429000"/>
            <a:ext cx="7772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Code Review — Catch bugs before they reach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Discussion — Collaborate and improve code quality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Documentation — Track why changes were made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CI/CD Integration — Run tests automatically before merge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7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2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72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72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72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72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72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72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A PULL REQUEST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72"/>
          <p:cNvSpPr/>
          <p:nvPr/>
        </p:nvSpPr>
        <p:spPr>
          <a:xfrm>
            <a:off x="457200" y="82296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1: Create and switch to a new branch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72"/>
          <p:cNvSpPr/>
          <p:nvPr/>
        </p:nvSpPr>
        <p:spPr>
          <a:xfrm>
            <a:off x="457200" y="16459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2: Make changes and commit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72"/>
          <p:cNvSpPr/>
          <p:nvPr/>
        </p:nvSpPr>
        <p:spPr>
          <a:xfrm>
            <a:off x="457200" y="2606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3: Push branch to remote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72"/>
          <p:cNvSpPr/>
          <p:nvPr/>
        </p:nvSpPr>
        <p:spPr>
          <a:xfrm>
            <a:off x="457200" y="3429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 4: Open Pull Request on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72"/>
          <p:cNvSpPr/>
          <p:nvPr/>
        </p:nvSpPr>
        <p:spPr>
          <a:xfrm>
            <a:off x="640080" y="3749040"/>
            <a:ext cx="7772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Go to your repository on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Click "Compare &amp; pull request" button (appears after push)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Or: Click "Pull requests" tab → "New pull request"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Select base branch (main) and compare branch (your feature)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Fill in title and description → Click "Create pull request"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7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6" name="Google Shape;13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300" y="1106425"/>
            <a:ext cx="4495405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4300" y="1939610"/>
            <a:ext cx="4495398" cy="707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24300" y="2923661"/>
            <a:ext cx="4495392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73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73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73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3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73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73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73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TITLE &amp; DESCRIPTION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73"/>
          <p:cNvSpPr/>
          <p:nvPr/>
        </p:nvSpPr>
        <p:spPr>
          <a:xfrm>
            <a:off x="457200" y="8229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❌ Bad PR: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73"/>
          <p:cNvSpPr/>
          <p:nvPr/>
        </p:nvSpPr>
        <p:spPr>
          <a:xfrm>
            <a:off x="457200" y="1143000"/>
            <a:ext cx="3931800" cy="9144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73"/>
          <p:cNvSpPr/>
          <p:nvPr/>
        </p:nvSpPr>
        <p:spPr>
          <a:xfrm>
            <a:off x="548640" y="118872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Title: "Fixed stuff"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Description: (empty)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73"/>
          <p:cNvSpPr/>
          <p:nvPr/>
        </p:nvSpPr>
        <p:spPr>
          <a:xfrm>
            <a:off x="4754880" y="8229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Good PR: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73"/>
          <p:cNvSpPr/>
          <p:nvPr/>
        </p:nvSpPr>
        <p:spPr>
          <a:xfrm>
            <a:off x="4754880" y="1143000"/>
            <a:ext cx="3931800" cy="9144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73"/>
          <p:cNvSpPr/>
          <p:nvPr/>
        </p:nvSpPr>
        <p:spPr>
          <a:xfrm>
            <a:off x="4846320" y="118872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Title: "Add JWT authentication"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Description: Implements user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authentication using JWT tokens...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73"/>
          <p:cNvSpPr/>
          <p:nvPr/>
        </p:nvSpPr>
        <p:spPr>
          <a:xfrm>
            <a:off x="407275" y="3470575"/>
            <a:ext cx="2998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PR Description Template: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7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39" name="Google Shape;133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225" y="2240275"/>
            <a:ext cx="3371451" cy="278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74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74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74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74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74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74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74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REVIEW BEST PRACTICES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74"/>
          <p:cNvSpPr/>
          <p:nvPr/>
        </p:nvSpPr>
        <p:spPr>
          <a:xfrm>
            <a:off x="457200" y="8229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FOR PR AUTHORS: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74"/>
          <p:cNvSpPr/>
          <p:nvPr/>
        </p:nvSpPr>
        <p:spPr>
          <a:xfrm>
            <a:off x="548640" y="1143000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PRs small (&lt; 400 lines ideal)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Self-review before requesting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clear commit messages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Respond to feedback promptly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take criticism personally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Squash commits before merge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74"/>
          <p:cNvSpPr/>
          <p:nvPr/>
        </p:nvSpPr>
        <p:spPr>
          <a:xfrm>
            <a:off x="4754880" y="82296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FOR REVIEWERS: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74"/>
          <p:cNvSpPr/>
          <p:nvPr/>
        </p:nvSpPr>
        <p:spPr>
          <a:xfrm>
            <a:off x="4846320" y="1143000"/>
            <a:ext cx="384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constructive, not critical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 WHY, not just what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Suggest improvements with 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when "good enough"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within 24 hours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74"/>
          <p:cNvSpPr/>
          <p:nvPr/>
        </p:nvSpPr>
        <p:spPr>
          <a:xfrm>
            <a:off x="457200" y="301752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Review Comment Examples: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74"/>
          <p:cNvSpPr/>
          <p:nvPr/>
        </p:nvSpPr>
        <p:spPr>
          <a:xfrm>
            <a:off x="457200" y="3337560"/>
            <a:ext cx="3931800" cy="6402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74"/>
          <p:cNvSpPr/>
          <p:nvPr/>
        </p:nvSpPr>
        <p:spPr>
          <a:xfrm>
            <a:off x="548640" y="338328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"This is wrong."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74"/>
          <p:cNvSpPr/>
          <p:nvPr/>
        </p:nvSpPr>
        <p:spPr>
          <a:xfrm>
            <a:off x="4754880" y="3337560"/>
            <a:ext cx="3931800" cy="6402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74"/>
          <p:cNvSpPr/>
          <p:nvPr/>
        </p:nvSpPr>
        <p:spPr>
          <a:xfrm>
            <a:off x="4846320" y="3383280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"Consider using StringBuilder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for better performance in loops."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1" name="Google Shape;1361;p74"/>
          <p:cNvGrpSpPr/>
          <p:nvPr/>
        </p:nvGrpSpPr>
        <p:grpSpPr>
          <a:xfrm>
            <a:off x="457200" y="4114800"/>
            <a:ext cx="7153168" cy="502800"/>
            <a:chOff x="457200" y="4114800"/>
            <a:chExt cx="8229600" cy="502800"/>
          </a:xfrm>
        </p:grpSpPr>
        <p:sp>
          <p:nvSpPr>
            <p:cNvPr id="1362" name="Google Shape;1362;p74"/>
            <p:cNvSpPr/>
            <p:nvPr/>
          </p:nvSpPr>
          <p:spPr>
            <a:xfrm>
              <a:off x="457200" y="4114800"/>
              <a:ext cx="8229600" cy="5028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74"/>
            <p:cNvSpPr/>
            <p:nvPr/>
          </p:nvSpPr>
          <p:spPr>
            <a:xfrm>
              <a:off x="457200" y="4114800"/>
              <a:ext cx="73200" cy="5028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74"/>
            <p:cNvSpPr/>
            <p:nvPr/>
          </p:nvSpPr>
          <p:spPr>
            <a:xfrm>
              <a:off x="640080" y="4206240"/>
              <a:ext cx="78639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Goal: Improve code quality while maintaining team morale. Be kind!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5" name="Google Shape;1365;p74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5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75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75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75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75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75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7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PROTECTION RULES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75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Branch Protection</a:t>
            </a: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Rules that prevent direct pushes and enforce code review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75"/>
          <p:cNvSpPr/>
          <p:nvPr/>
        </p:nvSpPr>
        <p:spPr>
          <a:xfrm>
            <a:off x="457200" y="137160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❌ WITHOUT Protection: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75"/>
          <p:cNvSpPr/>
          <p:nvPr/>
        </p:nvSpPr>
        <p:spPr>
          <a:xfrm>
            <a:off x="457200" y="1691640"/>
            <a:ext cx="3931800" cy="12801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75"/>
          <p:cNvSpPr/>
          <p:nvPr/>
        </p:nvSpPr>
        <p:spPr>
          <a:xfrm>
            <a:off x="548640" y="1737360"/>
            <a:ext cx="3749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Anyone can push directly to 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code review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Bugs go straight to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No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Accidents happen easily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75"/>
          <p:cNvSpPr/>
          <p:nvPr/>
        </p:nvSpPr>
        <p:spPr>
          <a:xfrm>
            <a:off x="4754880" y="137160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✓ WITH Protection: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75"/>
          <p:cNvSpPr/>
          <p:nvPr/>
        </p:nvSpPr>
        <p:spPr>
          <a:xfrm>
            <a:off x="4754880" y="1691640"/>
            <a:ext cx="3931800" cy="128010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75"/>
          <p:cNvSpPr/>
          <p:nvPr/>
        </p:nvSpPr>
        <p:spPr>
          <a:xfrm>
            <a:off x="4846320" y="1737360"/>
            <a:ext cx="3749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All changes go through PRs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Required code reviews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CI tests must pass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Complete audit 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Mistakes caught early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75"/>
          <p:cNvSpPr/>
          <p:nvPr/>
        </p:nvSpPr>
        <p:spPr>
          <a:xfrm>
            <a:off x="457200" y="315468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Protected Branch Workflow: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75"/>
          <p:cNvSpPr/>
          <p:nvPr/>
        </p:nvSpPr>
        <p:spPr>
          <a:xfrm>
            <a:off x="457200" y="3520440"/>
            <a:ext cx="1463100" cy="7314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75"/>
          <p:cNvSpPr/>
          <p:nvPr/>
        </p:nvSpPr>
        <p:spPr>
          <a:xfrm>
            <a:off x="457200" y="352044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75"/>
          <p:cNvSpPr/>
          <p:nvPr/>
        </p:nvSpPr>
        <p:spPr>
          <a:xfrm>
            <a:off x="1920240" y="3520440"/>
            <a:ext cx="2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75"/>
          <p:cNvSpPr/>
          <p:nvPr/>
        </p:nvSpPr>
        <p:spPr>
          <a:xfrm>
            <a:off x="2148840" y="3520440"/>
            <a:ext cx="1463100" cy="731400"/>
          </a:xfrm>
          <a:prstGeom prst="rect">
            <a:avLst/>
          </a:prstGeom>
          <a:solidFill>
            <a:srgbClr val="0078D4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75"/>
          <p:cNvSpPr/>
          <p:nvPr/>
        </p:nvSpPr>
        <p:spPr>
          <a:xfrm>
            <a:off x="2148840" y="352044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75"/>
          <p:cNvSpPr/>
          <p:nvPr/>
        </p:nvSpPr>
        <p:spPr>
          <a:xfrm>
            <a:off x="3611880" y="3520440"/>
            <a:ext cx="2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75"/>
          <p:cNvSpPr/>
          <p:nvPr/>
        </p:nvSpPr>
        <p:spPr>
          <a:xfrm>
            <a:off x="3840480" y="3520440"/>
            <a:ext cx="1463100" cy="731400"/>
          </a:xfrm>
          <a:prstGeom prst="rect">
            <a:avLst/>
          </a:prstGeom>
          <a:solidFill>
            <a:srgbClr val="F57C0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75"/>
          <p:cNvSpPr/>
          <p:nvPr/>
        </p:nvSpPr>
        <p:spPr>
          <a:xfrm>
            <a:off x="3840480" y="352044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75"/>
          <p:cNvSpPr/>
          <p:nvPr/>
        </p:nvSpPr>
        <p:spPr>
          <a:xfrm>
            <a:off x="5303520" y="3520440"/>
            <a:ext cx="2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75"/>
          <p:cNvSpPr/>
          <p:nvPr/>
        </p:nvSpPr>
        <p:spPr>
          <a:xfrm>
            <a:off x="5532120" y="3520440"/>
            <a:ext cx="1463100" cy="731400"/>
          </a:xfrm>
          <a:prstGeom prst="rect">
            <a:avLst/>
          </a:prstGeom>
          <a:solidFill>
            <a:srgbClr val="F57C0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75"/>
          <p:cNvSpPr/>
          <p:nvPr/>
        </p:nvSpPr>
        <p:spPr>
          <a:xfrm>
            <a:off x="5532120" y="352044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75"/>
          <p:cNvSpPr/>
          <p:nvPr/>
        </p:nvSpPr>
        <p:spPr>
          <a:xfrm>
            <a:off x="6995160" y="3520440"/>
            <a:ext cx="22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75"/>
          <p:cNvSpPr/>
          <p:nvPr/>
        </p:nvSpPr>
        <p:spPr>
          <a:xfrm>
            <a:off x="7223760" y="3520440"/>
            <a:ext cx="1463100" cy="731400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75"/>
          <p:cNvSpPr/>
          <p:nvPr/>
        </p:nvSpPr>
        <p:spPr>
          <a:xfrm>
            <a:off x="7223760" y="3520440"/>
            <a:ext cx="1463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Merged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75"/>
          <p:cNvSpPr/>
          <p:nvPr/>
        </p:nvSpPr>
        <p:spPr>
          <a:xfrm>
            <a:off x="457200" y="4434850"/>
            <a:ext cx="7863900" cy="457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75"/>
          <p:cNvSpPr/>
          <p:nvPr/>
        </p:nvSpPr>
        <p:spPr>
          <a:xfrm>
            <a:off x="457200" y="4434840"/>
            <a:ext cx="732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75"/>
          <p:cNvSpPr/>
          <p:nvPr/>
        </p:nvSpPr>
        <p:spPr>
          <a:xfrm>
            <a:off x="640080" y="452628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protection ensures code quality and prevents accidents on critical branches.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75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76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76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76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76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76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76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76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 UP BRANCH PROTECTION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76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GitHub Settings Path: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76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76"/>
          <p:cNvSpPr/>
          <p:nvPr/>
        </p:nvSpPr>
        <p:spPr>
          <a:xfrm>
            <a:off x="548640" y="109728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078D4"/>
                </a:solidFill>
                <a:latin typeface="Consolas"/>
                <a:ea typeface="Consolas"/>
                <a:cs typeface="Consolas"/>
                <a:sym typeface="Consolas"/>
              </a:rPr>
              <a:t>Repository → Settings → Branches → Add branch protection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76"/>
          <p:cNvSpPr/>
          <p:nvPr/>
        </p:nvSpPr>
        <p:spPr>
          <a:xfrm>
            <a:off x="457200" y="16916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Step-by-Step: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76"/>
          <p:cNvSpPr/>
          <p:nvPr/>
        </p:nvSpPr>
        <p:spPr>
          <a:xfrm>
            <a:off x="548640" y="2011680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76"/>
          <p:cNvSpPr/>
          <p:nvPr/>
        </p:nvSpPr>
        <p:spPr>
          <a:xfrm>
            <a:off x="548640" y="20116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76"/>
          <p:cNvSpPr/>
          <p:nvPr/>
        </p:nvSpPr>
        <p:spPr>
          <a:xfrm>
            <a:off x="1005840" y="201168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your repository on 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76"/>
          <p:cNvSpPr/>
          <p:nvPr/>
        </p:nvSpPr>
        <p:spPr>
          <a:xfrm>
            <a:off x="548640" y="2395728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76"/>
          <p:cNvSpPr/>
          <p:nvPr/>
        </p:nvSpPr>
        <p:spPr>
          <a:xfrm>
            <a:off x="548640" y="2395728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76"/>
          <p:cNvSpPr/>
          <p:nvPr/>
        </p:nvSpPr>
        <p:spPr>
          <a:xfrm>
            <a:off x="1005840" y="2395728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"Settings" tab (need admin access)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76"/>
          <p:cNvSpPr/>
          <p:nvPr/>
        </p:nvSpPr>
        <p:spPr>
          <a:xfrm>
            <a:off x="548640" y="2779776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76"/>
          <p:cNvSpPr/>
          <p:nvPr/>
        </p:nvSpPr>
        <p:spPr>
          <a:xfrm>
            <a:off x="548640" y="2779776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76"/>
          <p:cNvSpPr/>
          <p:nvPr/>
        </p:nvSpPr>
        <p:spPr>
          <a:xfrm>
            <a:off x="1005840" y="2779776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"Branches" in left sidebar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76"/>
          <p:cNvSpPr/>
          <p:nvPr/>
        </p:nvSpPr>
        <p:spPr>
          <a:xfrm>
            <a:off x="548640" y="3163824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76"/>
          <p:cNvSpPr/>
          <p:nvPr/>
        </p:nvSpPr>
        <p:spPr>
          <a:xfrm>
            <a:off x="548640" y="3163824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76"/>
          <p:cNvSpPr/>
          <p:nvPr/>
        </p:nvSpPr>
        <p:spPr>
          <a:xfrm>
            <a:off x="1005840" y="3163824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 "Branch protection rules", click "Add rule"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76"/>
          <p:cNvSpPr/>
          <p:nvPr/>
        </p:nvSpPr>
        <p:spPr>
          <a:xfrm>
            <a:off x="548640" y="3547872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76"/>
          <p:cNvSpPr/>
          <p:nvPr/>
        </p:nvSpPr>
        <p:spPr>
          <a:xfrm>
            <a:off x="548640" y="3547872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76"/>
          <p:cNvSpPr/>
          <p:nvPr/>
        </p:nvSpPr>
        <p:spPr>
          <a:xfrm>
            <a:off x="1005840" y="3547872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 branch name pattern: main (or master)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76"/>
          <p:cNvSpPr/>
          <p:nvPr/>
        </p:nvSpPr>
        <p:spPr>
          <a:xfrm>
            <a:off x="548640" y="3931920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76"/>
          <p:cNvSpPr/>
          <p:nvPr/>
        </p:nvSpPr>
        <p:spPr>
          <a:xfrm>
            <a:off x="548640" y="393192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76"/>
          <p:cNvSpPr/>
          <p:nvPr/>
        </p:nvSpPr>
        <p:spPr>
          <a:xfrm>
            <a:off x="1005840" y="393192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Configure protection options (see next slide)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76"/>
          <p:cNvSpPr/>
          <p:nvPr/>
        </p:nvSpPr>
        <p:spPr>
          <a:xfrm>
            <a:off x="548640" y="4315968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76"/>
          <p:cNvSpPr/>
          <p:nvPr/>
        </p:nvSpPr>
        <p:spPr>
          <a:xfrm>
            <a:off x="548640" y="4315968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76"/>
          <p:cNvSpPr/>
          <p:nvPr/>
        </p:nvSpPr>
        <p:spPr>
          <a:xfrm>
            <a:off x="1005840" y="4315968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"Create" to save the rule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1" name="Google Shape;1441;p76"/>
          <p:cNvGrpSpPr/>
          <p:nvPr/>
        </p:nvGrpSpPr>
        <p:grpSpPr>
          <a:xfrm>
            <a:off x="547062" y="4672291"/>
            <a:ext cx="7582753" cy="421264"/>
            <a:chOff x="457200" y="4572000"/>
            <a:chExt cx="8229600" cy="457200"/>
          </a:xfrm>
        </p:grpSpPr>
        <p:sp>
          <p:nvSpPr>
            <p:cNvPr id="1442" name="Google Shape;1442;p76"/>
            <p:cNvSpPr/>
            <p:nvPr/>
          </p:nvSpPr>
          <p:spPr>
            <a:xfrm>
              <a:off x="457200" y="4572000"/>
              <a:ext cx="8229600" cy="4572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84225" lIns="84225" spcFirstLastPara="1" rIns="84225" wrap="square" tIns="84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76"/>
            <p:cNvSpPr/>
            <p:nvPr/>
          </p:nvSpPr>
          <p:spPr>
            <a:xfrm>
              <a:off x="457200" y="4572000"/>
              <a:ext cx="73200" cy="457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txBody>
            <a:bodyPr anchorCtr="0" anchor="ctr" bIns="84225" lIns="84225" spcFirstLastPara="1" rIns="84225" wrap="square" tIns="84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76"/>
            <p:cNvSpPr/>
            <p:nvPr/>
          </p:nvSpPr>
          <p:spPr>
            <a:xfrm>
              <a:off x="640080" y="4663440"/>
              <a:ext cx="7863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100" lIns="84225" spcFirstLastPara="1" rIns="84225" wrap="square" tIns="421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0"/>
                <a:buFont typeface="Arial"/>
                <a:buNone/>
              </a:pPr>
              <a:r>
                <a:rPr b="0" i="0" lang="en-US" sz="128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Tip: Use "main" or "master" to protect the default branch. Use "*" patterns for multiple branches.</a:t>
              </a:r>
              <a:endParaRPr b="0" i="0" sz="12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5" name="Google Shape;1445;p76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77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77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77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77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77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77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77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PROTECTION OPTIONS EXPLAINED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8" name="Google Shape;1458;p77"/>
          <p:cNvGraphicFramePr/>
          <p:nvPr/>
        </p:nvGraphicFramePr>
        <p:xfrm>
          <a:off x="45720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{3099C110-2CEC-48C9-BEDE-466587A57CB7}</a:tableStyleId>
              </a:tblPr>
              <a:tblGrid>
                <a:gridCol w="2926075"/>
                <a:gridCol w="3200400"/>
                <a:gridCol w="1428425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Does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Recommended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 pull request before merging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direct pushes allowed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 approvals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 minimum reviewers (1-6)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 (1-2)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Dismiss stale reviews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commits invalidate old approvals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 status checks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 tests must pass before merge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 branches up to date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Must merge/rebase main first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 signed commits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GPG signature verification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Optional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 administrators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Rules apply to admins too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✓ Yes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459" name="Google Shape;1459;p77"/>
          <p:cNvGrpSpPr/>
          <p:nvPr/>
        </p:nvGrpSpPr>
        <p:grpSpPr>
          <a:xfrm>
            <a:off x="457187" y="4114800"/>
            <a:ext cx="7687269" cy="502800"/>
            <a:chOff x="457200" y="4114800"/>
            <a:chExt cx="8229600" cy="502800"/>
          </a:xfrm>
        </p:grpSpPr>
        <p:sp>
          <p:nvSpPr>
            <p:cNvPr id="1460" name="Google Shape;1460;p77"/>
            <p:cNvSpPr/>
            <p:nvPr/>
          </p:nvSpPr>
          <p:spPr>
            <a:xfrm>
              <a:off x="457200" y="4114800"/>
              <a:ext cx="8229600" cy="5028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77"/>
            <p:cNvSpPr/>
            <p:nvPr/>
          </p:nvSpPr>
          <p:spPr>
            <a:xfrm>
              <a:off x="457200" y="4114800"/>
              <a:ext cx="73200" cy="5028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77"/>
            <p:cNvSpPr/>
            <p:nvPr/>
          </p:nvSpPr>
          <p:spPr>
            <a:xfrm>
              <a:off x="640080" y="4206240"/>
              <a:ext cx="78639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 with basic protection (require PR + 1 approval + CI checks), then add more as needed.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3" name="Google Shape;1463;p77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78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78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78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78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78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78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78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RECOMMENDED CONFIGURATION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6" name="Google Shape;1476;p78"/>
          <p:cNvGrpSpPr/>
          <p:nvPr/>
        </p:nvGrpSpPr>
        <p:grpSpPr>
          <a:xfrm>
            <a:off x="457200" y="1588832"/>
            <a:ext cx="3931800" cy="1965840"/>
            <a:chOff x="457200" y="777240"/>
            <a:chExt cx="3931800" cy="1965840"/>
          </a:xfrm>
        </p:grpSpPr>
        <p:sp>
          <p:nvSpPr>
            <p:cNvPr id="1477" name="Google Shape;1477;p78"/>
            <p:cNvSpPr/>
            <p:nvPr/>
          </p:nvSpPr>
          <p:spPr>
            <a:xfrm>
              <a:off x="457200" y="777240"/>
              <a:ext cx="3931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78D4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78D4"/>
                  </a:solidFill>
                  <a:latin typeface="Arial"/>
                  <a:ea typeface="Arial"/>
                  <a:cs typeface="Arial"/>
                  <a:sym typeface="Arial"/>
                </a:rPr>
                <a:t>Small Teams (2-5 developers):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78"/>
            <p:cNvSpPr/>
            <p:nvPr/>
          </p:nvSpPr>
          <p:spPr>
            <a:xfrm>
              <a:off x="457200" y="1097280"/>
              <a:ext cx="3931800" cy="1645800"/>
            </a:xfrm>
            <a:prstGeom prst="rect">
              <a:avLst/>
            </a:prstGeom>
            <a:solidFill>
              <a:srgbClr val="E3F2FD"/>
            </a:solidFill>
            <a:ln cap="flat" cmpd="sng" w="12700">
              <a:solidFill>
                <a:srgbClr val="0078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78"/>
            <p:cNvSpPr/>
            <p:nvPr/>
          </p:nvSpPr>
          <p:spPr>
            <a:xfrm>
              <a:off x="594360" y="1188720"/>
              <a:ext cx="3657600" cy="14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pull request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1 approval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Dismiss stale reviews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status checks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☐ Require linear history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Include administrators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0" name="Google Shape;1480;p78"/>
          <p:cNvGrpSpPr/>
          <p:nvPr/>
        </p:nvGrpSpPr>
        <p:grpSpPr>
          <a:xfrm>
            <a:off x="4645330" y="1588827"/>
            <a:ext cx="3931800" cy="1965840"/>
            <a:chOff x="4754880" y="777240"/>
            <a:chExt cx="3931800" cy="1965840"/>
          </a:xfrm>
        </p:grpSpPr>
        <p:sp>
          <p:nvSpPr>
            <p:cNvPr id="1481" name="Google Shape;1481;p78"/>
            <p:cNvSpPr/>
            <p:nvPr/>
          </p:nvSpPr>
          <p:spPr>
            <a:xfrm>
              <a:off x="4754880" y="777240"/>
              <a:ext cx="3931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E7D32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Large Teams (10+ developers):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78"/>
            <p:cNvSpPr/>
            <p:nvPr/>
          </p:nvSpPr>
          <p:spPr>
            <a:xfrm>
              <a:off x="4754880" y="1097280"/>
              <a:ext cx="3931800" cy="1645800"/>
            </a:xfrm>
            <a:prstGeom prst="rect">
              <a:avLst/>
            </a:prstGeom>
            <a:solidFill>
              <a:srgbClr val="E8F5E9"/>
            </a:solidFill>
            <a:ln cap="flat" cmpd="sng" w="12700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78"/>
            <p:cNvSpPr/>
            <p:nvPr/>
          </p:nvSpPr>
          <p:spPr>
            <a:xfrm>
              <a:off x="4892040" y="1188720"/>
              <a:ext cx="3657600" cy="14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pull request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2 approvals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Dismiss stale reviews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status checks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branch up to date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Require code owners review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☑ Include administrators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4" name="Google Shape;1484;p78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9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9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79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79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79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79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79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MERGE STRATEGIES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79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GitHub offers three merge options (configurable in Settings → General):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8" name="Google Shape;1498;p79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{3099C110-2CEC-48C9-BEDE-466587A57CB7}</a:tableStyleId>
              </a:tblPr>
              <a:tblGrid>
                <a:gridCol w="2560325"/>
                <a:gridCol w="3200400"/>
                <a:gridCol w="24688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Strategy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Best For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E0E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merge commit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Preserves all commits + adds merge commit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history tracking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Squash and merge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Combines all PR commits into one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 history (recommended)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Rebase and merge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Replays commits on top of base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 history, no merge commits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99" name="Google Shape;1499;p79"/>
          <p:cNvSpPr/>
          <p:nvPr/>
        </p:nvSpPr>
        <p:spPr>
          <a:xfrm>
            <a:off x="384125" y="3619450"/>
            <a:ext cx="209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Visual Comparison: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79"/>
          <p:cNvSpPr/>
          <p:nvPr/>
        </p:nvSpPr>
        <p:spPr>
          <a:xfrm>
            <a:off x="457200" y="4474018"/>
            <a:ext cx="7427700" cy="502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79"/>
          <p:cNvSpPr/>
          <p:nvPr/>
        </p:nvSpPr>
        <p:spPr>
          <a:xfrm>
            <a:off x="457200" y="4474018"/>
            <a:ext cx="66000" cy="502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79"/>
          <p:cNvSpPr/>
          <p:nvPr/>
        </p:nvSpPr>
        <p:spPr>
          <a:xfrm>
            <a:off x="622261" y="4565458"/>
            <a:ext cx="7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Recommendation: Use "Squash and merge" for clean main branch history with meaningful commits.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79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4" name="Google Shape;150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855" y="2974213"/>
            <a:ext cx="4491146" cy="14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80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80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80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80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80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80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8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BEST PRACTICES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80"/>
          <p:cNvSpPr/>
          <p:nvPr/>
        </p:nvSpPr>
        <p:spPr>
          <a:xfrm>
            <a:off x="457200" y="77724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D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78D4"/>
                </a:solidFill>
                <a:latin typeface="Arial"/>
                <a:ea typeface="Arial"/>
                <a:cs typeface="Arial"/>
                <a:sym typeface="Arial"/>
              </a:rPr>
              <a:t>CREATING PRs: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80"/>
          <p:cNvSpPr/>
          <p:nvPr/>
        </p:nvSpPr>
        <p:spPr>
          <a:xfrm>
            <a:off x="548640" y="109728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 PRs small and focused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descriptive titles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PR templates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related issues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Self-review before requesting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screenshots for UI changes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80"/>
          <p:cNvSpPr/>
          <p:nvPr/>
        </p:nvSpPr>
        <p:spPr>
          <a:xfrm>
            <a:off x="4754880" y="777240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REVIEWING PRs: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80"/>
          <p:cNvSpPr/>
          <p:nvPr/>
        </p:nvSpPr>
        <p:spPr>
          <a:xfrm>
            <a:off x="4846320" y="109728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within 24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constructive and kind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the changes locally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for edge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when good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suggestions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80"/>
          <p:cNvSpPr/>
          <p:nvPr/>
        </p:nvSpPr>
        <p:spPr>
          <a:xfrm>
            <a:off x="457200" y="265176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REPOSITORY SETTINGS: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80"/>
          <p:cNvSpPr/>
          <p:nvPr/>
        </p:nvSpPr>
        <p:spPr>
          <a:xfrm>
            <a:off x="640080" y="29718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Enable branch protection on main/master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Require PR reviews (1-2 approvals)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Require status checks (CI/CD must pass)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Dismiss stale reviews on new commits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Use "Squash and merge" as default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☑ Set up CODEOWNERS for automatic review requests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80"/>
          <p:cNvSpPr/>
          <p:nvPr/>
        </p:nvSpPr>
        <p:spPr>
          <a:xfrm>
            <a:off x="457200" y="4434850"/>
            <a:ext cx="7772400" cy="5028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80"/>
          <p:cNvSpPr/>
          <p:nvPr/>
        </p:nvSpPr>
        <p:spPr>
          <a:xfrm>
            <a:off x="457200" y="4434850"/>
            <a:ext cx="69000" cy="502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80"/>
          <p:cNvSpPr/>
          <p:nvPr/>
        </p:nvSpPr>
        <p:spPr>
          <a:xfrm>
            <a:off x="629920" y="4526290"/>
            <a:ext cx="742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PRs are not bureaucracy — they're a tool for collaboration, learning, and catching bugs early!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80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81"/>
          <p:cNvSpPr/>
          <p:nvPr/>
        </p:nvSpPr>
        <p:spPr>
          <a:xfrm>
            <a:off x="27432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81"/>
          <p:cNvSpPr/>
          <p:nvPr/>
        </p:nvSpPr>
        <p:spPr>
          <a:xfrm>
            <a:off x="45720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81"/>
          <p:cNvSpPr/>
          <p:nvPr/>
        </p:nvSpPr>
        <p:spPr>
          <a:xfrm>
            <a:off x="8686800" y="182880"/>
            <a:ext cx="109800" cy="1098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81"/>
          <p:cNvSpPr/>
          <p:nvPr/>
        </p:nvSpPr>
        <p:spPr>
          <a:xfrm>
            <a:off x="8503920" y="32004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81"/>
          <p:cNvSpPr/>
          <p:nvPr/>
        </p:nvSpPr>
        <p:spPr>
          <a:xfrm>
            <a:off x="274320" y="4846320"/>
            <a:ext cx="73200" cy="7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81"/>
          <p:cNvSpPr/>
          <p:nvPr/>
        </p:nvSpPr>
        <p:spPr>
          <a:xfrm>
            <a:off x="457200" y="4709160"/>
            <a:ext cx="54900" cy="5490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81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PULL REQUESTS - QUICK REFERENCE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81"/>
          <p:cNvSpPr/>
          <p:nvPr/>
        </p:nvSpPr>
        <p:spPr>
          <a:xfrm>
            <a:off x="457200" y="7772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GIT COMMANDS: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81"/>
          <p:cNvSpPr/>
          <p:nvPr/>
        </p:nvSpPr>
        <p:spPr>
          <a:xfrm>
            <a:off x="5486400" y="77724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GITHUB SETTINGS: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81"/>
          <p:cNvSpPr/>
          <p:nvPr/>
        </p:nvSpPr>
        <p:spPr>
          <a:xfrm>
            <a:off x="5486400" y="1097280"/>
            <a:ext cx="3200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 Protection: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Settings → Branches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Add 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Options: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Settings → General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Pull Requests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81"/>
          <p:cNvSpPr/>
          <p:nvPr/>
        </p:nvSpPr>
        <p:spPr>
          <a:xfrm>
            <a:off x="457200" y="36576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Arial"/>
                <a:ea typeface="Arial"/>
                <a:cs typeface="Arial"/>
                <a:sym typeface="Arial"/>
              </a:rPr>
              <a:t>PR CHECKLIST: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81"/>
          <p:cNvSpPr/>
          <p:nvPr/>
        </p:nvSpPr>
        <p:spPr>
          <a:xfrm>
            <a:off x="457200" y="3977650"/>
            <a:ext cx="7952100" cy="6915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81"/>
          <p:cNvSpPr/>
          <p:nvPr/>
        </p:nvSpPr>
        <p:spPr>
          <a:xfrm>
            <a:off x="633918" y="3977650"/>
            <a:ext cx="75990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□ Descriptive title  □ Linked issue  □ Tests pass  □ Self-reviewed  □ Updated docs  □ Ready for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81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6" name="Google Shape;154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922" y="1037427"/>
            <a:ext cx="3172630" cy="26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8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 RESOURCES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8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Interactive Learning: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82"/>
          <p:cNvSpPr/>
          <p:nvPr/>
        </p:nvSpPr>
        <p:spPr>
          <a:xfrm>
            <a:off x="640080" y="10515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🎮 Learn Git Branching: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learngitbranching.js.org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82"/>
          <p:cNvSpPr/>
          <p:nvPr/>
        </p:nvSpPr>
        <p:spPr>
          <a:xfrm>
            <a:off x="640080" y="13258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 Git Immersion: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gitimmersion.com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8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Documentation: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82"/>
          <p:cNvSpPr/>
          <p:nvPr/>
        </p:nvSpPr>
        <p:spPr>
          <a:xfrm>
            <a:off x="640080" y="2011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 Git Book: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git-scm.com/book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82"/>
          <p:cNvSpPr/>
          <p:nvPr/>
        </p:nvSpPr>
        <p:spPr>
          <a:xfrm>
            <a:off x="640080" y="22860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 GitHub Docs: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docs.github.com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82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Cheat Sheets: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82"/>
          <p:cNvSpPr/>
          <p:nvPr/>
        </p:nvSpPr>
        <p:spPr>
          <a:xfrm>
            <a:off x="640080" y="2971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 Git Cheat Sheet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82"/>
          <p:cNvSpPr/>
          <p:nvPr/>
        </p:nvSpPr>
        <p:spPr>
          <a:xfrm>
            <a:off x="640080" y="324612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Atlassian Git Tutorials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2" name="Google Shape;1562;p82"/>
          <p:cNvGrpSpPr/>
          <p:nvPr/>
        </p:nvGrpSpPr>
        <p:grpSpPr>
          <a:xfrm>
            <a:off x="457212" y="4491550"/>
            <a:ext cx="7647767" cy="457200"/>
            <a:chOff x="457200" y="3657600"/>
            <a:chExt cx="8229600" cy="457200"/>
          </a:xfrm>
        </p:grpSpPr>
        <p:sp>
          <p:nvSpPr>
            <p:cNvPr id="1563" name="Google Shape;1563;p82"/>
            <p:cNvSpPr/>
            <p:nvPr/>
          </p:nvSpPr>
          <p:spPr>
            <a:xfrm>
              <a:off x="457200" y="3657600"/>
              <a:ext cx="8229600" cy="457200"/>
            </a:xfrm>
            <a:prstGeom prst="rect">
              <a:avLst/>
            </a:prstGeom>
            <a:solidFill>
              <a:srgbClr val="E3F2FD"/>
            </a:solidFill>
            <a:ln cap="flat" cmpd="sng" w="25400">
              <a:solidFill>
                <a:srgbClr val="1565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82"/>
            <p:cNvSpPr/>
            <p:nvPr/>
          </p:nvSpPr>
          <p:spPr>
            <a:xfrm>
              <a:off x="548640" y="3703320"/>
              <a:ext cx="8046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Practice makes perfect! Create a test repository and experiment with these commands.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5" name="Google Shape;1565;p82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82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7" name="Google Shape;1567;p82"/>
          <p:cNvSpPr txBox="1"/>
          <p:nvPr/>
        </p:nvSpPr>
        <p:spPr>
          <a:xfrm>
            <a:off x="457200" y="3439800"/>
            <a:ext cx="3000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r>
              <a:rPr b="1" lang="en-US" sz="16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Conventional Commits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Conventional Commit Messages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Semantic Versioning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83"/>
          <p:cNvSpPr/>
          <p:nvPr/>
        </p:nvSpPr>
        <p:spPr>
          <a:xfrm>
            <a:off x="2743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83"/>
          <p:cNvSpPr/>
          <p:nvPr/>
        </p:nvSpPr>
        <p:spPr>
          <a:xfrm>
            <a:off x="54864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83"/>
          <p:cNvSpPr/>
          <p:nvPr/>
        </p:nvSpPr>
        <p:spPr>
          <a:xfrm>
            <a:off x="18288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83"/>
          <p:cNvSpPr/>
          <p:nvPr/>
        </p:nvSpPr>
        <p:spPr>
          <a:xfrm>
            <a:off x="8503920" y="274320"/>
            <a:ext cx="137160" cy="13716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83"/>
          <p:cNvSpPr/>
          <p:nvPr/>
        </p:nvSpPr>
        <p:spPr>
          <a:xfrm>
            <a:off x="8229600" y="457200"/>
            <a:ext cx="91440" cy="91440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83"/>
          <p:cNvSpPr/>
          <p:nvPr/>
        </p:nvSpPr>
        <p:spPr>
          <a:xfrm>
            <a:off x="8595360" y="64008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83"/>
          <p:cNvSpPr/>
          <p:nvPr/>
        </p:nvSpPr>
        <p:spPr>
          <a:xfrm>
            <a:off x="27432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83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83"/>
          <p:cNvSpPr/>
          <p:nvPr/>
        </p:nvSpPr>
        <p:spPr>
          <a:xfrm>
            <a:off x="8412480" y="4480560"/>
            <a:ext cx="109728" cy="109728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83"/>
          <p:cNvSpPr/>
          <p:nvPr/>
        </p:nvSpPr>
        <p:spPr>
          <a:xfrm>
            <a:off x="8229600" y="4663440"/>
            <a:ext cx="73152" cy="73152"/>
          </a:xfrm>
          <a:prstGeom prst="ellipse">
            <a:avLst/>
          </a:prstGeom>
          <a:solidFill>
            <a:srgbClr val="CCCCCC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8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8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83"/>
          <p:cNvSpPr/>
          <p:nvPr/>
        </p:nvSpPr>
        <p:spPr>
          <a:xfrm>
            <a:off x="8412480" y="4572000"/>
            <a:ext cx="365760" cy="36576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83"/>
          <p:cNvSpPr txBox="1"/>
          <p:nvPr>
            <p:ph idx="12" type="sldNum"/>
          </p:nvPr>
        </p:nvSpPr>
        <p:spPr>
          <a:xfrm>
            <a:off x="8320984" y="45580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